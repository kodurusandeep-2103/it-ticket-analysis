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74" r:id="rId8"/>
    <p:sldId id="270" r:id="rId9"/>
    <p:sldId id="275" r:id="rId10"/>
    <p:sldId id="271" r:id="rId11"/>
    <p:sldId id="276" r:id="rId12"/>
    <p:sldId id="266" r:id="rId13"/>
    <p:sldId id="267" r:id="rId14"/>
    <p:sldId id="263" r:id="rId15"/>
    <p:sldId id="273" r:id="rId16"/>
    <p:sldId id="269"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111" d="100"/>
          <a:sy n="111" d="100"/>
        </p:scale>
        <p:origin x="91" y="2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andeep\Desktop\IT%20Tickets%20Analysis(AutoRecovere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andeep\Desktop\IT%20Tickets%20Analysis(AutoRecovered).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oleObject" Target="file:///C:\Users\Sandeep\Desktop\IT%20Tickets%20Analysis(AutoRecovered).xlsx"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file:///C:\Users\Sandeep\Desktop\IT%20Tickets%20Analysis(AutoRecovered).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andeep\Desktop\IT%20Tickets%20Analysis(AutoRecovered).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1" Type="http://schemas.openxmlformats.org/officeDocument/2006/relationships/oleObject" Target="file:///C:\Users\Sandeep\Desktop\IT%20Tickets%20Analysis(AutoRecovere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 Analysis(AutoRecovered).xlsx]Dashboard Pivot!PivotTable1</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a:t>
            </a:r>
            <a:r>
              <a:rPr lang="en-US" baseline="0"/>
              <a:t> Tickets By Time </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 Pivot'!$C$4</c:f>
              <c:strCache>
                <c:ptCount val="1"/>
                <c:pt idx="0">
                  <c:v>Total</c:v>
                </c:pt>
              </c:strCache>
            </c:strRef>
          </c:tx>
          <c:spPr>
            <a:solidFill>
              <a:schemeClr val="accent1"/>
            </a:solidFill>
            <a:ln>
              <a:noFill/>
            </a:ln>
            <a:effectLst/>
          </c:spPr>
          <c:invertIfNegative val="0"/>
          <c:cat>
            <c:strRef>
              <c:f>'Dashboard Pivot'!$B$5:$B$10</c:f>
              <c:strCache>
                <c:ptCount val="5"/>
                <c:pt idx="0">
                  <c:v>2016</c:v>
                </c:pt>
                <c:pt idx="1">
                  <c:v>2017</c:v>
                </c:pt>
                <c:pt idx="2">
                  <c:v>2018</c:v>
                </c:pt>
                <c:pt idx="3">
                  <c:v>2019</c:v>
                </c:pt>
                <c:pt idx="4">
                  <c:v>2020</c:v>
                </c:pt>
              </c:strCache>
            </c:strRef>
          </c:cat>
          <c:val>
            <c:numRef>
              <c:f>'Dashboard Pivot'!$C$5:$C$10</c:f>
              <c:numCache>
                <c:formatCode>General</c:formatCode>
                <c:ptCount val="5"/>
                <c:pt idx="0">
                  <c:v>13051</c:v>
                </c:pt>
                <c:pt idx="1">
                  <c:v>14915</c:v>
                </c:pt>
                <c:pt idx="2">
                  <c:v>18954</c:v>
                </c:pt>
                <c:pt idx="3">
                  <c:v>21490</c:v>
                </c:pt>
                <c:pt idx="4">
                  <c:v>29088</c:v>
                </c:pt>
              </c:numCache>
            </c:numRef>
          </c:val>
          <c:extLst>
            <c:ext xmlns:c16="http://schemas.microsoft.com/office/drawing/2014/chart" uri="{C3380CC4-5D6E-409C-BE32-E72D297353CC}">
              <c16:uniqueId val="{00000000-5F5C-4987-88A7-5849B13CE4BC}"/>
            </c:ext>
          </c:extLst>
        </c:ser>
        <c:dLbls>
          <c:showLegendKey val="0"/>
          <c:showVal val="0"/>
          <c:showCatName val="0"/>
          <c:showSerName val="0"/>
          <c:showPercent val="0"/>
          <c:showBubbleSize val="0"/>
        </c:dLbls>
        <c:gapWidth val="219"/>
        <c:overlap val="-27"/>
        <c:axId val="205635616"/>
        <c:axId val="205636096"/>
      </c:barChart>
      <c:catAx>
        <c:axId val="205635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636096"/>
        <c:crosses val="autoZero"/>
        <c:auto val="1"/>
        <c:lblAlgn val="ctr"/>
        <c:lblOffset val="100"/>
        <c:noMultiLvlLbl val="0"/>
      </c:catAx>
      <c:valAx>
        <c:axId val="20563609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6356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[IT Tickets Analysis(AutoRecovered).xlsx]Dashboard Pivot!PivotTable3</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Satisfaction rate</a:t>
            </a:r>
            <a:r>
              <a:rPr lang="en-US" baseline="0"/>
              <a:t> by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cked"/>
        <c:varyColors val="0"/>
        <c:ser>
          <c:idx val="0"/>
          <c:order val="0"/>
          <c:tx>
            <c:strRef>
              <c:f>'Dashboard Pivot'!$C$24</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Pivot'!$B$25:$B$30</c:f>
              <c:strCache>
                <c:ptCount val="5"/>
                <c:pt idx="0">
                  <c:v>2016</c:v>
                </c:pt>
                <c:pt idx="1">
                  <c:v>2017</c:v>
                </c:pt>
                <c:pt idx="2">
                  <c:v>2018</c:v>
                </c:pt>
                <c:pt idx="3">
                  <c:v>2019</c:v>
                </c:pt>
                <c:pt idx="4">
                  <c:v>2020</c:v>
                </c:pt>
              </c:strCache>
            </c:strRef>
          </c:cat>
          <c:val>
            <c:numRef>
              <c:f>'Dashboard Pivot'!$C$25:$C$30</c:f>
              <c:numCache>
                <c:formatCode>General</c:formatCode>
                <c:ptCount val="5"/>
                <c:pt idx="0">
                  <c:v>51939</c:v>
                </c:pt>
                <c:pt idx="1">
                  <c:v>60676</c:v>
                </c:pt>
                <c:pt idx="2">
                  <c:v>77557</c:v>
                </c:pt>
                <c:pt idx="3">
                  <c:v>88590</c:v>
                </c:pt>
                <c:pt idx="4">
                  <c:v>121043</c:v>
                </c:pt>
              </c:numCache>
            </c:numRef>
          </c:val>
          <c:smooth val="0"/>
          <c:extLst>
            <c:ext xmlns:c16="http://schemas.microsoft.com/office/drawing/2014/chart" uri="{C3380CC4-5D6E-409C-BE32-E72D297353CC}">
              <c16:uniqueId val="{00000000-60FC-47E3-9403-A84D2D0FEC1E}"/>
            </c:ext>
          </c:extLst>
        </c:ser>
        <c:dLbls>
          <c:dLblPos val="t"/>
          <c:showLegendKey val="0"/>
          <c:showVal val="1"/>
          <c:showCatName val="0"/>
          <c:showSerName val="0"/>
          <c:showPercent val="0"/>
          <c:showBubbleSize val="0"/>
        </c:dLbls>
        <c:marker val="1"/>
        <c:smooth val="0"/>
        <c:axId val="1147295279"/>
        <c:axId val="1147297199"/>
      </c:lineChart>
      <c:catAx>
        <c:axId val="114729527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7297199"/>
        <c:crosses val="autoZero"/>
        <c:auto val="1"/>
        <c:lblAlgn val="ctr"/>
        <c:lblOffset val="100"/>
        <c:noMultiLvlLbl val="0"/>
      </c:catAx>
      <c:valAx>
        <c:axId val="1147297199"/>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7295279"/>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 Analysis(AutoRecovered).xlsx]Dashboard Pivot!PivotTable5</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Age Group  by Satisfaction Rate</a:t>
            </a:r>
          </a:p>
        </c:rich>
      </c:tx>
      <c:overlay val="0"/>
      <c:spPr>
        <a:noFill/>
        <a:ln>
          <a:noFill/>
        </a:ln>
        <a:effectLst/>
      </c:spPr>
    </c:title>
    <c:autoTitleDeleted val="0"/>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2102451008864562"/>
          <c:y val="0.14852186434072956"/>
          <c:w val="0.79385010943217615"/>
          <c:h val="0.71199337667633134"/>
        </c:manualLayout>
      </c:layout>
      <c:barChart>
        <c:barDir val="bar"/>
        <c:grouping val="clustered"/>
        <c:varyColors val="0"/>
        <c:ser>
          <c:idx val="0"/>
          <c:order val="0"/>
          <c:tx>
            <c:strRef>
              <c:f>'Dashboard Pivot'!$H$4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Pivot'!$G$5:$G$9</c:f>
              <c:strCache>
                <c:ptCount val="4"/>
                <c:pt idx="0">
                  <c:v>20-29</c:v>
                </c:pt>
                <c:pt idx="1">
                  <c:v>30-39</c:v>
                </c:pt>
                <c:pt idx="2">
                  <c:v>40-49</c:v>
                </c:pt>
                <c:pt idx="3">
                  <c:v>50+</c:v>
                </c:pt>
              </c:strCache>
            </c:strRef>
          </c:cat>
          <c:val>
            <c:numRef>
              <c:f>'Dashboard Pivot'!$H$5:$H$9</c:f>
              <c:numCache>
                <c:formatCode>0.0</c:formatCode>
                <c:ptCount val="4"/>
                <c:pt idx="0">
                  <c:v>4.1412487205731834</c:v>
                </c:pt>
                <c:pt idx="1">
                  <c:v>4.1326018808777434</c:v>
                </c:pt>
                <c:pt idx="2">
                  <c:v>4.0505602240896357</c:v>
                </c:pt>
                <c:pt idx="3">
                  <c:v>4.1580329782576975</c:v>
                </c:pt>
              </c:numCache>
            </c:numRef>
          </c:val>
          <c:extLst>
            <c:ext xmlns:c16="http://schemas.microsoft.com/office/drawing/2014/chart" uri="{C3380CC4-5D6E-409C-BE32-E72D297353CC}">
              <c16:uniqueId val="{00000000-997D-4711-86B8-35AA0184B62C}"/>
            </c:ext>
          </c:extLst>
        </c:ser>
        <c:dLbls>
          <c:showLegendKey val="0"/>
          <c:showVal val="0"/>
          <c:showCatName val="0"/>
          <c:showSerName val="0"/>
          <c:showPercent val="0"/>
          <c:showBubbleSize val="0"/>
        </c:dLbls>
        <c:gapWidth val="182"/>
        <c:axId val="200872528"/>
        <c:axId val="200869648"/>
      </c:barChart>
      <c:catAx>
        <c:axId val="200872528"/>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869648"/>
        <c:crosses val="autoZero"/>
        <c:auto val="1"/>
        <c:lblAlgn val="ctr"/>
        <c:lblOffset val="100"/>
        <c:noMultiLvlLbl val="0"/>
      </c:catAx>
      <c:valAx>
        <c:axId val="200869648"/>
        <c:scaling>
          <c:orientation val="minMax"/>
        </c:scaling>
        <c:delete val="0"/>
        <c:axPos val="b"/>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872528"/>
        <c:crosses val="autoZero"/>
        <c:crossBetween val="between"/>
      </c:valAx>
    </c:plotArea>
    <c:plotVisOnly val="1"/>
    <c:dispBlanksAs val="gap"/>
    <c:showDLblsOverMax val="0"/>
    <c:extLst/>
  </c:chart>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 Analysis(AutoRecovered).xlsx]Dashboard Pivot!PivotTable10</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Tickets</a:t>
            </a:r>
            <a:r>
              <a:rPr lang="en-US" baseline="0"/>
              <a:t> by Priority</a:t>
            </a:r>
            <a:endParaRPr lang="en-US"/>
          </a:p>
        </c:rich>
      </c:tx>
      <c:layout>
        <c:manualLayout>
          <c:xMode val="edge"/>
          <c:yMode val="edge"/>
          <c:x val="0.27160207734295194"/>
          <c:y val="3.841026476895147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1929186795877794E-2"/>
          <c:y val="0.24641790679283279"/>
          <c:w val="0.91614162640824437"/>
          <c:h val="0.60366499235829718"/>
        </c:manualLayout>
      </c:layout>
      <c:barChart>
        <c:barDir val="col"/>
        <c:grouping val="clustered"/>
        <c:varyColors val="0"/>
        <c:ser>
          <c:idx val="0"/>
          <c:order val="0"/>
          <c:tx>
            <c:strRef>
              <c:f>'Dashboard Pivot'!$H$24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Pivot'!$G$25:$G$29</c:f>
              <c:strCache>
                <c:ptCount val="4"/>
                <c:pt idx="0">
                  <c:v>0 - Unassigned</c:v>
                </c:pt>
                <c:pt idx="1">
                  <c:v>1 - Low</c:v>
                </c:pt>
                <c:pt idx="2">
                  <c:v>2 - Mid</c:v>
                </c:pt>
                <c:pt idx="3">
                  <c:v>3 - High</c:v>
                </c:pt>
              </c:strCache>
            </c:strRef>
          </c:cat>
          <c:val>
            <c:numRef>
              <c:f>'Dashboard Pivot'!$H$25:$H$29</c:f>
              <c:numCache>
                <c:formatCode>General</c:formatCode>
                <c:ptCount val="4"/>
                <c:pt idx="0">
                  <c:v>29410</c:v>
                </c:pt>
                <c:pt idx="1">
                  <c:v>16694</c:v>
                </c:pt>
                <c:pt idx="2">
                  <c:v>15845</c:v>
                </c:pt>
                <c:pt idx="3">
                  <c:v>35549</c:v>
                </c:pt>
              </c:numCache>
            </c:numRef>
          </c:val>
          <c:extLst>
            <c:ext xmlns:c16="http://schemas.microsoft.com/office/drawing/2014/chart" uri="{C3380CC4-5D6E-409C-BE32-E72D297353CC}">
              <c16:uniqueId val="{00000000-1C07-4EC9-B99F-D9CB19B8C71F}"/>
            </c:ext>
          </c:extLst>
        </c:ser>
        <c:dLbls>
          <c:dLblPos val="outEnd"/>
          <c:showLegendKey val="0"/>
          <c:showVal val="1"/>
          <c:showCatName val="0"/>
          <c:showSerName val="0"/>
          <c:showPercent val="0"/>
          <c:showBubbleSize val="0"/>
        </c:dLbls>
        <c:gapWidth val="219"/>
        <c:overlap val="-27"/>
        <c:axId val="623260144"/>
        <c:axId val="623257744"/>
      </c:barChart>
      <c:catAx>
        <c:axId val="62326014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3257744"/>
        <c:crosses val="autoZero"/>
        <c:auto val="1"/>
        <c:lblAlgn val="ctr"/>
        <c:lblOffset val="100"/>
        <c:noMultiLvlLbl val="0"/>
      </c:catAx>
      <c:valAx>
        <c:axId val="623257744"/>
        <c:scaling>
          <c:orientation val="minMax"/>
        </c:scaling>
        <c:delete val="1"/>
        <c:axPos val="l"/>
        <c:numFmt formatCode="General" sourceLinked="1"/>
        <c:majorTickMark val="out"/>
        <c:minorTickMark val="none"/>
        <c:tickLblPos val="nextTo"/>
        <c:crossAx val="6232601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[IT Tickets Analysis(AutoRecovered).xlsx]Dashboard Pivot!PivotTable4</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aseline="0"/>
              <a:t>Average resoultion time by request category,quarter-wise</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680089110313113"/>
          <c:y val="0.11714185327428296"/>
          <c:w val="0.84273918058942909"/>
          <c:h val="0.67038343383775179"/>
        </c:manualLayout>
      </c:layout>
      <c:barChart>
        <c:barDir val="col"/>
        <c:grouping val="stacked"/>
        <c:varyColors val="0"/>
        <c:ser>
          <c:idx val="0"/>
          <c:order val="0"/>
          <c:tx>
            <c:strRef>
              <c:f>'Dashboard Pivot'!$C$34:$C$35</c:f>
              <c:strCache>
                <c:ptCount val="1"/>
                <c:pt idx="0">
                  <c:v>Qtr1</c:v>
                </c:pt>
              </c:strCache>
            </c:strRef>
          </c:tx>
          <c:spPr>
            <a:solidFill>
              <a:schemeClr val="accent1">
                <a:shade val="58000"/>
              </a:schemeClr>
            </a:solidFill>
            <a:ln>
              <a:noFill/>
            </a:ln>
            <a:effectLst/>
          </c:spPr>
          <c:invertIfNegative val="0"/>
          <c:cat>
            <c:strRef>
              <c:f>'Dashboard Pivot'!$B$36:$B$40</c:f>
              <c:strCache>
                <c:ptCount val="4"/>
                <c:pt idx="0">
                  <c:v>Hardware</c:v>
                </c:pt>
                <c:pt idx="1">
                  <c:v>Login Access</c:v>
                </c:pt>
                <c:pt idx="2">
                  <c:v>Software</c:v>
                </c:pt>
                <c:pt idx="3">
                  <c:v>System</c:v>
                </c:pt>
              </c:strCache>
            </c:strRef>
          </c:cat>
          <c:val>
            <c:numRef>
              <c:f>'Dashboard Pivot'!$C$36:$C$40</c:f>
              <c:numCache>
                <c:formatCode>0.0</c:formatCode>
                <c:ptCount val="4"/>
                <c:pt idx="0">
                  <c:v>7.7437185929648242</c:v>
                </c:pt>
                <c:pt idx="1">
                  <c:v>0.30982295830953743</c:v>
                </c:pt>
                <c:pt idx="2">
                  <c:v>5.2396186440677965</c:v>
                </c:pt>
                <c:pt idx="3">
                  <c:v>6.6398099146776106</c:v>
                </c:pt>
              </c:numCache>
            </c:numRef>
          </c:val>
          <c:extLst>
            <c:ext xmlns:c16="http://schemas.microsoft.com/office/drawing/2014/chart" uri="{C3380CC4-5D6E-409C-BE32-E72D297353CC}">
              <c16:uniqueId val="{00000000-9897-44EE-B1DB-5D4E6F15EBF7}"/>
            </c:ext>
          </c:extLst>
        </c:ser>
        <c:ser>
          <c:idx val="1"/>
          <c:order val="1"/>
          <c:tx>
            <c:strRef>
              <c:f>'Dashboard Pivot'!$D$34:$D$35</c:f>
              <c:strCache>
                <c:ptCount val="1"/>
                <c:pt idx="0">
                  <c:v>Qtr2</c:v>
                </c:pt>
              </c:strCache>
            </c:strRef>
          </c:tx>
          <c:spPr>
            <a:solidFill>
              <a:schemeClr val="accent1">
                <a:shade val="86000"/>
              </a:schemeClr>
            </a:solidFill>
            <a:ln>
              <a:noFill/>
            </a:ln>
            <a:effectLst/>
          </c:spPr>
          <c:invertIfNegative val="0"/>
          <c:cat>
            <c:strRef>
              <c:f>'Dashboard Pivot'!$B$36:$B$40</c:f>
              <c:strCache>
                <c:ptCount val="4"/>
                <c:pt idx="0">
                  <c:v>Hardware</c:v>
                </c:pt>
                <c:pt idx="1">
                  <c:v>Login Access</c:v>
                </c:pt>
                <c:pt idx="2">
                  <c:v>Software</c:v>
                </c:pt>
                <c:pt idx="3">
                  <c:v>System</c:v>
                </c:pt>
              </c:strCache>
            </c:strRef>
          </c:cat>
          <c:val>
            <c:numRef>
              <c:f>'Dashboard Pivot'!$D$36:$D$40</c:f>
              <c:numCache>
                <c:formatCode>0.0</c:formatCode>
                <c:ptCount val="4"/>
                <c:pt idx="0">
                  <c:v>7.6847290640394093</c:v>
                </c:pt>
                <c:pt idx="1">
                  <c:v>0.32385814819925485</c:v>
                </c:pt>
                <c:pt idx="2">
                  <c:v>5.2590348861499896</c:v>
                </c:pt>
                <c:pt idx="3">
                  <c:v>6.642100935347929</c:v>
                </c:pt>
              </c:numCache>
            </c:numRef>
          </c:val>
          <c:extLst>
            <c:ext xmlns:c16="http://schemas.microsoft.com/office/drawing/2014/chart" uri="{C3380CC4-5D6E-409C-BE32-E72D297353CC}">
              <c16:uniqueId val="{00000001-9897-44EE-B1DB-5D4E6F15EBF7}"/>
            </c:ext>
          </c:extLst>
        </c:ser>
        <c:ser>
          <c:idx val="2"/>
          <c:order val="2"/>
          <c:tx>
            <c:strRef>
              <c:f>'Dashboard Pivot'!$E$34:$E$35</c:f>
              <c:strCache>
                <c:ptCount val="1"/>
                <c:pt idx="0">
                  <c:v>Qtr3</c:v>
                </c:pt>
              </c:strCache>
            </c:strRef>
          </c:tx>
          <c:spPr>
            <a:solidFill>
              <a:schemeClr val="accent1">
                <a:tint val="86000"/>
              </a:schemeClr>
            </a:solidFill>
            <a:ln>
              <a:noFill/>
            </a:ln>
            <a:effectLst/>
          </c:spPr>
          <c:invertIfNegative val="0"/>
          <c:cat>
            <c:strRef>
              <c:f>'Dashboard Pivot'!$B$36:$B$40</c:f>
              <c:strCache>
                <c:ptCount val="4"/>
                <c:pt idx="0">
                  <c:v>Hardware</c:v>
                </c:pt>
                <c:pt idx="1">
                  <c:v>Login Access</c:v>
                </c:pt>
                <c:pt idx="2">
                  <c:v>Software</c:v>
                </c:pt>
                <c:pt idx="3">
                  <c:v>System</c:v>
                </c:pt>
              </c:strCache>
            </c:strRef>
          </c:cat>
          <c:val>
            <c:numRef>
              <c:f>'Dashboard Pivot'!$E$36:$E$40</c:f>
              <c:numCache>
                <c:formatCode>0.0</c:formatCode>
                <c:ptCount val="4"/>
                <c:pt idx="0">
                  <c:v>7.5285714285714285</c:v>
                </c:pt>
                <c:pt idx="1">
                  <c:v>0.31265239772419401</c:v>
                </c:pt>
                <c:pt idx="2">
                  <c:v>5.1592673700975515</c:v>
                </c:pt>
                <c:pt idx="3">
                  <c:v>6.5821828076186639</c:v>
                </c:pt>
              </c:numCache>
            </c:numRef>
          </c:val>
          <c:extLst>
            <c:ext xmlns:c16="http://schemas.microsoft.com/office/drawing/2014/chart" uri="{C3380CC4-5D6E-409C-BE32-E72D297353CC}">
              <c16:uniqueId val="{00000002-9897-44EE-B1DB-5D4E6F15EBF7}"/>
            </c:ext>
          </c:extLst>
        </c:ser>
        <c:ser>
          <c:idx val="3"/>
          <c:order val="3"/>
          <c:tx>
            <c:strRef>
              <c:f>'Dashboard Pivot'!$F$34:$F$35</c:f>
              <c:strCache>
                <c:ptCount val="1"/>
                <c:pt idx="0">
                  <c:v>Qtr4</c:v>
                </c:pt>
              </c:strCache>
            </c:strRef>
          </c:tx>
          <c:spPr>
            <a:solidFill>
              <a:schemeClr val="accent1">
                <a:tint val="58000"/>
              </a:schemeClr>
            </a:solidFill>
            <a:ln>
              <a:noFill/>
            </a:ln>
            <a:effectLst/>
          </c:spPr>
          <c:invertIfNegative val="0"/>
          <c:cat>
            <c:strRef>
              <c:f>'Dashboard Pivot'!$B$36:$B$40</c:f>
              <c:strCache>
                <c:ptCount val="4"/>
                <c:pt idx="0">
                  <c:v>Hardware</c:v>
                </c:pt>
                <c:pt idx="1">
                  <c:v>Login Access</c:v>
                </c:pt>
                <c:pt idx="2">
                  <c:v>Software</c:v>
                </c:pt>
                <c:pt idx="3">
                  <c:v>System</c:v>
                </c:pt>
              </c:strCache>
            </c:strRef>
          </c:cat>
          <c:val>
            <c:numRef>
              <c:f>'Dashboard Pivot'!$F$36:$F$40</c:f>
              <c:numCache>
                <c:formatCode>0.0</c:formatCode>
                <c:ptCount val="4"/>
                <c:pt idx="0">
                  <c:v>7.5481903212688088</c:v>
                </c:pt>
                <c:pt idx="1">
                  <c:v>0.30899470899470899</c:v>
                </c:pt>
                <c:pt idx="2">
                  <c:v>5.2978174603174599</c:v>
                </c:pt>
                <c:pt idx="3">
                  <c:v>6.600733326726786</c:v>
                </c:pt>
              </c:numCache>
            </c:numRef>
          </c:val>
          <c:extLst>
            <c:ext xmlns:c16="http://schemas.microsoft.com/office/drawing/2014/chart" uri="{C3380CC4-5D6E-409C-BE32-E72D297353CC}">
              <c16:uniqueId val="{00000003-9897-44EE-B1DB-5D4E6F15EBF7}"/>
            </c:ext>
          </c:extLst>
        </c:ser>
        <c:dLbls>
          <c:showLegendKey val="0"/>
          <c:showVal val="0"/>
          <c:showCatName val="0"/>
          <c:showSerName val="0"/>
          <c:showPercent val="0"/>
          <c:showBubbleSize val="0"/>
        </c:dLbls>
        <c:gapWidth val="150"/>
        <c:overlap val="100"/>
        <c:axId val="632794576"/>
        <c:axId val="632792656"/>
      </c:barChart>
      <c:catAx>
        <c:axId val="63279457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2792656"/>
        <c:crosses val="autoZero"/>
        <c:auto val="1"/>
        <c:lblAlgn val="ctr"/>
        <c:lblOffset val="100"/>
        <c:noMultiLvlLbl val="0"/>
      </c:catAx>
      <c:valAx>
        <c:axId val="632792656"/>
        <c:scaling>
          <c:orientation val="minMax"/>
        </c:scaling>
        <c:delete val="0"/>
        <c:axPos val="l"/>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27945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[IT Tickets Analysis(AutoRecovered).xlsx]Dashboard Pivot!PivotTable15</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aseline="0"/>
              <a:t>Count of Tickets by Request category</a:t>
            </a:r>
          </a:p>
          <a:p>
            <a:pPr>
              <a:defRPr sz="1400" b="0" i="0" u="none" strike="noStrike" kern="1200" spc="0" baseline="0">
                <a:solidFill>
                  <a:schemeClr val="tx1">
                    <a:lumMod val="65000"/>
                    <a:lumOff val="35000"/>
                  </a:schemeClr>
                </a:solidFill>
                <a:latin typeface="+mn-lt"/>
                <a:ea typeface="+mn-ea"/>
                <a:cs typeface="+mn-cs"/>
              </a:defRPr>
            </a:pPr>
            <a:endParaRPr lang="en-IN"/>
          </a:p>
        </c:rich>
      </c:tx>
      <c:overlay val="0"/>
      <c:spPr>
        <a:noFill/>
        <a:ln>
          <a:noFill/>
        </a:ln>
        <a:effectLst/>
      </c:spPr>
    </c:title>
    <c:autoTitleDeleted val="0"/>
    <c:pivotFmts>
      <c:pivotFmt>
        <c:idx val="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dLbl>
          <c:idx val="0"/>
          <c:layout>
            <c:manualLayout>
              <c:x val="5.994443339825347E-2"/>
              <c:y val="-7.523758588061052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dLbl>
          <c:idx val="0"/>
          <c:layout>
            <c:manualLayout>
              <c:x val="7.493054174781684E-2"/>
              <c:y val="-6.687785411609828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19050">
            <a:solidFill>
              <a:schemeClr val="lt1"/>
            </a:solidFill>
          </a:ln>
          <a:effectLst/>
        </c:spPr>
        <c:dLbl>
          <c:idx val="0"/>
          <c:layout>
            <c:manualLayout>
              <c:x val="9.3663177184771046E-2"/>
              <c:y val="-5.015839058707368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dLbl>
          <c:idx val="0"/>
          <c:layout>
            <c:manualLayout>
              <c:x val="0.10490275844694358"/>
              <c:y val="4.597852470481754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dLbl>
          <c:idx val="0"/>
          <c:layout>
            <c:manualLayout>
              <c:x val="-0.14236802932085199"/>
              <c:y val="2.089932941128070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14"/>
        <c:spPr>
          <a:solidFill>
            <a:schemeClr val="accent1">
              <a:shade val="53000"/>
            </a:schemeClr>
          </a:solidFill>
          <a:ln w="19050">
            <a:solidFill>
              <a:schemeClr val="lt1"/>
            </a:solidFill>
          </a:ln>
          <a:effectLst/>
        </c:spPr>
        <c:dLbl>
          <c:idx val="0"/>
          <c:layout>
            <c:manualLayout>
              <c:x val="5.994443339825347E-2"/>
              <c:y val="-7.523758588061052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15"/>
        <c:spPr>
          <a:solidFill>
            <a:schemeClr val="accent1">
              <a:shade val="76000"/>
            </a:schemeClr>
          </a:solidFill>
          <a:ln w="19050">
            <a:solidFill>
              <a:schemeClr val="lt1"/>
            </a:solidFill>
          </a:ln>
          <a:effectLst/>
        </c:spPr>
        <c:dLbl>
          <c:idx val="0"/>
          <c:layout>
            <c:manualLayout>
              <c:x val="7.493054174781684E-2"/>
              <c:y val="-6.687785411609828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w="19050">
            <a:solidFill>
              <a:schemeClr val="lt1"/>
            </a:solidFill>
          </a:ln>
          <a:effectLst/>
        </c:spPr>
        <c:dLbl>
          <c:idx val="0"/>
          <c:layout>
            <c:manualLayout>
              <c:x val="9.3663177184771046E-2"/>
              <c:y val="-5.015839058707368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17"/>
        <c:spPr>
          <a:solidFill>
            <a:schemeClr val="accent1">
              <a:tint val="77000"/>
            </a:schemeClr>
          </a:solidFill>
          <a:ln w="19050">
            <a:solidFill>
              <a:schemeClr val="lt1"/>
            </a:solidFill>
          </a:ln>
          <a:effectLst/>
        </c:spPr>
        <c:dLbl>
          <c:idx val="0"/>
          <c:layout>
            <c:manualLayout>
              <c:x val="0.10490275844694358"/>
              <c:y val="4.597852470481754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18"/>
        <c:spPr>
          <a:solidFill>
            <a:schemeClr val="accent1">
              <a:tint val="54000"/>
            </a:schemeClr>
          </a:solidFill>
          <a:ln w="19050">
            <a:solidFill>
              <a:schemeClr val="lt1"/>
            </a:solidFill>
          </a:ln>
          <a:effectLst/>
        </c:spPr>
        <c:dLbl>
          <c:idx val="0"/>
          <c:layout>
            <c:manualLayout>
              <c:x val="-0.14236802932085199"/>
              <c:y val="2.089932941128070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20"/>
        <c:spPr>
          <a:solidFill>
            <a:schemeClr val="accent1">
              <a:shade val="53000"/>
            </a:schemeClr>
          </a:solidFill>
          <a:ln w="19050">
            <a:solidFill>
              <a:schemeClr val="lt1"/>
            </a:solidFill>
          </a:ln>
          <a:effectLst/>
        </c:spPr>
        <c:dLbl>
          <c:idx val="0"/>
          <c:layout>
            <c:manualLayout>
              <c:x val="5.994443339825347E-2"/>
              <c:y val="-7.523758588061052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21"/>
        <c:spPr>
          <a:solidFill>
            <a:schemeClr val="accent1">
              <a:shade val="76000"/>
            </a:schemeClr>
          </a:solidFill>
          <a:ln w="19050">
            <a:solidFill>
              <a:schemeClr val="lt1"/>
            </a:solidFill>
          </a:ln>
          <a:effectLst/>
        </c:spPr>
        <c:dLbl>
          <c:idx val="0"/>
          <c:layout>
            <c:manualLayout>
              <c:x val="7.493054174781684E-2"/>
              <c:y val="-6.687785411609828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22"/>
        <c:spPr>
          <a:solidFill>
            <a:schemeClr val="accent1"/>
          </a:solidFill>
          <a:ln w="19050">
            <a:solidFill>
              <a:schemeClr val="lt1"/>
            </a:solidFill>
          </a:ln>
          <a:effectLst/>
        </c:spPr>
        <c:dLbl>
          <c:idx val="0"/>
          <c:layout>
            <c:manualLayout>
              <c:x val="9.3663177184771046E-2"/>
              <c:y val="-5.015839058707368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23"/>
        <c:spPr>
          <a:solidFill>
            <a:schemeClr val="accent1">
              <a:tint val="77000"/>
            </a:schemeClr>
          </a:solidFill>
          <a:ln w="19050">
            <a:solidFill>
              <a:schemeClr val="lt1"/>
            </a:solidFill>
          </a:ln>
          <a:effectLst/>
        </c:spPr>
        <c:dLbl>
          <c:idx val="0"/>
          <c:layout>
            <c:manualLayout>
              <c:x val="0.10490275844694358"/>
              <c:y val="4.597852470481754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24"/>
        <c:spPr>
          <a:solidFill>
            <a:schemeClr val="accent1">
              <a:tint val="54000"/>
            </a:schemeClr>
          </a:solidFill>
          <a:ln w="19050">
            <a:solidFill>
              <a:schemeClr val="lt1"/>
            </a:solidFill>
          </a:ln>
          <a:effectLst/>
        </c:spPr>
        <c:dLbl>
          <c:idx val="0"/>
          <c:layout>
            <c:manualLayout>
              <c:x val="-0.14236802932085199"/>
              <c:y val="2.089932941128070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25"/>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26"/>
        <c:spPr>
          <a:solidFill>
            <a:schemeClr val="accent1">
              <a:shade val="53000"/>
            </a:schemeClr>
          </a:solidFill>
          <a:ln w="19050">
            <a:solidFill>
              <a:schemeClr val="lt1"/>
            </a:solidFill>
          </a:ln>
          <a:effectLst/>
        </c:spPr>
        <c:dLbl>
          <c:idx val="0"/>
          <c:layout>
            <c:manualLayout>
              <c:x val="5.994443339825347E-2"/>
              <c:y val="-7.523758588061052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27"/>
        <c:spPr>
          <a:solidFill>
            <a:schemeClr val="accent1">
              <a:shade val="76000"/>
            </a:schemeClr>
          </a:solidFill>
          <a:ln w="19050">
            <a:solidFill>
              <a:schemeClr val="lt1"/>
            </a:solidFill>
          </a:ln>
          <a:effectLst/>
        </c:spPr>
        <c:dLbl>
          <c:idx val="0"/>
          <c:layout>
            <c:manualLayout>
              <c:x val="7.493054174781684E-2"/>
              <c:y val="-6.687785411609828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28"/>
        <c:spPr>
          <a:solidFill>
            <a:schemeClr val="accent1"/>
          </a:solidFill>
          <a:ln w="19050">
            <a:solidFill>
              <a:schemeClr val="lt1"/>
            </a:solidFill>
          </a:ln>
          <a:effectLst/>
        </c:spPr>
        <c:dLbl>
          <c:idx val="0"/>
          <c:layout>
            <c:manualLayout>
              <c:x val="9.3663177184771046E-2"/>
              <c:y val="-5.015839058707368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29"/>
        <c:spPr>
          <a:solidFill>
            <a:schemeClr val="accent1">
              <a:tint val="77000"/>
            </a:schemeClr>
          </a:solidFill>
          <a:ln w="19050">
            <a:solidFill>
              <a:schemeClr val="lt1"/>
            </a:solidFill>
          </a:ln>
          <a:effectLst/>
        </c:spPr>
        <c:dLbl>
          <c:idx val="0"/>
          <c:layout>
            <c:manualLayout>
              <c:x val="0.10490275844694358"/>
              <c:y val="4.597852470481754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30"/>
        <c:spPr>
          <a:solidFill>
            <a:schemeClr val="accent1">
              <a:tint val="54000"/>
            </a:schemeClr>
          </a:solidFill>
          <a:ln w="19050">
            <a:solidFill>
              <a:schemeClr val="lt1"/>
            </a:solidFill>
          </a:ln>
          <a:effectLst/>
        </c:spPr>
        <c:dLbl>
          <c:idx val="0"/>
          <c:layout>
            <c:manualLayout>
              <c:x val="-0.14236802932085199"/>
              <c:y val="2.089932941128070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31"/>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
        <c:idx val="32"/>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extLst>
            <c:ext xmlns:c15="http://schemas.microsoft.com/office/drawing/2012/chart" uri="{CE6537A1-D6FC-4f65-9D91-7224C49458BB}"/>
          </c:extLst>
        </c:dLbl>
      </c:pivotFmt>
    </c:pivotFmts>
    <c:plotArea>
      <c:layout/>
      <c:doughnutChart>
        <c:varyColors val="1"/>
        <c:ser>
          <c:idx val="0"/>
          <c:order val="0"/>
          <c:tx>
            <c:strRef>
              <c:f>'Dashboard Pivot'!$J$35</c:f>
              <c:strCache>
                <c:ptCount val="1"/>
                <c:pt idx="0">
                  <c:v>Total</c:v>
                </c:pt>
              </c:strCache>
            </c:strRef>
          </c:tx>
          <c:dPt>
            <c:idx val="0"/>
            <c:bubble3D val="0"/>
            <c:extLst>
              <c:ext xmlns:c16="http://schemas.microsoft.com/office/drawing/2014/chart" uri="{C3380CC4-5D6E-409C-BE32-E72D297353CC}">
                <c16:uniqueId val="{00000000-7654-4554-B3F1-BD4FA2827FEA}"/>
              </c:ext>
            </c:extLst>
          </c:dPt>
          <c:dPt>
            <c:idx val="1"/>
            <c:bubble3D val="0"/>
            <c:extLst>
              <c:ext xmlns:c16="http://schemas.microsoft.com/office/drawing/2014/chart" uri="{C3380CC4-5D6E-409C-BE32-E72D297353CC}">
                <c16:uniqueId val="{00000001-7654-4554-B3F1-BD4FA2827FEA}"/>
              </c:ext>
            </c:extLst>
          </c:dPt>
          <c:dPt>
            <c:idx val="2"/>
            <c:bubble3D val="0"/>
            <c:extLst>
              <c:ext xmlns:c16="http://schemas.microsoft.com/office/drawing/2014/chart" uri="{C3380CC4-5D6E-409C-BE32-E72D297353CC}">
                <c16:uniqueId val="{00000002-7654-4554-B3F1-BD4FA2827FEA}"/>
              </c:ext>
            </c:extLst>
          </c:dPt>
          <c:dPt>
            <c:idx val="3"/>
            <c:bubble3D val="0"/>
            <c:extLst>
              <c:ext xmlns:c16="http://schemas.microsoft.com/office/drawing/2014/chart" uri="{C3380CC4-5D6E-409C-BE32-E72D297353CC}">
                <c16:uniqueId val="{00000003-7654-4554-B3F1-BD4FA2827FEA}"/>
              </c:ext>
            </c:extLst>
          </c:dPt>
          <c:dPt>
            <c:idx val="4"/>
            <c:bubble3D val="0"/>
            <c:extLst>
              <c:ext xmlns:c16="http://schemas.microsoft.com/office/drawing/2014/chart" uri="{C3380CC4-5D6E-409C-BE32-E72D297353CC}">
                <c16:uniqueId val="{00000004-7654-4554-B3F1-BD4FA2827FEA}"/>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'Dashboard Pivot'!$I$36:$I$40</c:f>
              <c:strCache>
                <c:ptCount val="4"/>
                <c:pt idx="0">
                  <c:v>Hardware</c:v>
                </c:pt>
                <c:pt idx="1">
                  <c:v>Login Access</c:v>
                </c:pt>
                <c:pt idx="2">
                  <c:v>Software</c:v>
                </c:pt>
                <c:pt idx="3">
                  <c:v>System</c:v>
                </c:pt>
              </c:strCache>
            </c:strRef>
          </c:cat>
          <c:val>
            <c:numRef>
              <c:f>'Dashboard Pivot'!$J$36:$J$40</c:f>
              <c:numCache>
                <c:formatCode>General</c:formatCode>
                <c:ptCount val="4"/>
                <c:pt idx="0">
                  <c:v>9733</c:v>
                </c:pt>
                <c:pt idx="1">
                  <c:v>29193</c:v>
                </c:pt>
                <c:pt idx="2">
                  <c:v>19570</c:v>
                </c:pt>
                <c:pt idx="3">
                  <c:v>39002</c:v>
                </c:pt>
              </c:numCache>
            </c:numRef>
          </c:val>
          <c:extLst>
            <c:ext xmlns:c16="http://schemas.microsoft.com/office/drawing/2014/chart" uri="{C3380CC4-5D6E-409C-BE32-E72D297353CC}">
              <c16:uniqueId val="{00000005-7654-4554-B3F1-BD4FA2827FEA}"/>
            </c:ext>
          </c:extLst>
        </c:ser>
        <c:dLbls>
          <c:showLegendKey val="0"/>
          <c:showVal val="1"/>
          <c:showCatName val="0"/>
          <c:showSerName val="0"/>
          <c:showPercent val="0"/>
          <c:showBubbleSize val="0"/>
          <c:showLeaderLines val="1"/>
        </c:dLbls>
        <c:firstSliceAng val="0"/>
        <c:holeSize val="75"/>
      </c:doughnutChart>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C38303-60FD-4D71-841C-59521EF1DEFB}" type="datetimeFigureOut">
              <a:rPr lang="en-IN" smtClean="0"/>
              <a:t>27-03-2026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463E8F-5745-4DB2-B4BF-4FD3DF1AC5C0}" type="slidenum">
              <a:rPr lang="en-IN" smtClean="0"/>
              <a:t>‹#›</a:t>
            </a:fld>
            <a:endParaRPr lang="en-IN"/>
          </a:p>
        </p:txBody>
      </p:sp>
    </p:spTree>
    <p:extLst>
      <p:ext uri="{BB962C8B-B14F-4D97-AF65-F5344CB8AC3E}">
        <p14:creationId xmlns:p14="http://schemas.microsoft.com/office/powerpoint/2010/main" val="1637926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F463E8F-5745-4DB2-B4BF-4FD3DF1AC5C0}" type="slidenum">
              <a:rPr lang="en-IN" smtClean="0"/>
              <a:t>4</a:t>
            </a:fld>
            <a:endParaRPr lang="en-IN"/>
          </a:p>
        </p:txBody>
      </p:sp>
    </p:spTree>
    <p:extLst>
      <p:ext uri="{BB962C8B-B14F-4D97-AF65-F5344CB8AC3E}">
        <p14:creationId xmlns:p14="http://schemas.microsoft.com/office/powerpoint/2010/main" val="2800649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F463E8F-5745-4DB2-B4BF-4FD3DF1AC5C0}" type="slidenum">
              <a:rPr lang="en-IN" smtClean="0"/>
              <a:t>5</a:t>
            </a:fld>
            <a:endParaRPr lang="en-IN"/>
          </a:p>
        </p:txBody>
      </p:sp>
    </p:spTree>
    <p:extLst>
      <p:ext uri="{BB962C8B-B14F-4D97-AF65-F5344CB8AC3E}">
        <p14:creationId xmlns:p14="http://schemas.microsoft.com/office/powerpoint/2010/main" val="53350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F463E8F-5745-4DB2-B4BF-4FD3DF1AC5C0}" type="slidenum">
              <a:rPr lang="en-IN" smtClean="0"/>
              <a:t>6</a:t>
            </a:fld>
            <a:endParaRPr lang="en-IN"/>
          </a:p>
        </p:txBody>
      </p:sp>
    </p:spTree>
    <p:extLst>
      <p:ext uri="{BB962C8B-B14F-4D97-AF65-F5344CB8AC3E}">
        <p14:creationId xmlns:p14="http://schemas.microsoft.com/office/powerpoint/2010/main" val="3283144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E21F5-FFF3-1E53-5449-C60724D12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78524B-732E-DC5B-7664-95DE65C24D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1A42D-823A-0514-24FC-3800ADE44BC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9640242-1666-71FD-8E5A-52687F73125A}"/>
              </a:ext>
            </a:extLst>
          </p:cNvPr>
          <p:cNvSpPr>
            <a:spLocks noGrp="1"/>
          </p:cNvSpPr>
          <p:nvPr>
            <p:ph type="sldNum" sz="quarter" idx="5"/>
          </p:nvPr>
        </p:nvSpPr>
        <p:spPr/>
        <p:txBody>
          <a:bodyPr/>
          <a:lstStyle/>
          <a:p>
            <a:fld id="{6F463E8F-5745-4DB2-B4BF-4FD3DF1AC5C0}" type="slidenum">
              <a:rPr lang="en-IN" smtClean="0"/>
              <a:t>12</a:t>
            </a:fld>
            <a:endParaRPr lang="en-IN"/>
          </a:p>
        </p:txBody>
      </p:sp>
    </p:spTree>
    <p:extLst>
      <p:ext uri="{BB962C8B-B14F-4D97-AF65-F5344CB8AC3E}">
        <p14:creationId xmlns:p14="http://schemas.microsoft.com/office/powerpoint/2010/main" val="1188611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CC7CF-DAF7-31F9-C2C1-A947A53E16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85BFA-5A08-FED2-768A-3F498BE5C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B8CEE3-7BF5-5552-181F-CECECB46F6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309C13D-AFE2-E21F-4F19-64C7E0DB08E2}"/>
              </a:ext>
            </a:extLst>
          </p:cNvPr>
          <p:cNvSpPr>
            <a:spLocks noGrp="1"/>
          </p:cNvSpPr>
          <p:nvPr>
            <p:ph type="sldNum" sz="quarter" idx="5"/>
          </p:nvPr>
        </p:nvSpPr>
        <p:spPr/>
        <p:txBody>
          <a:bodyPr/>
          <a:lstStyle/>
          <a:p>
            <a:fld id="{6F463E8F-5745-4DB2-B4BF-4FD3DF1AC5C0}" type="slidenum">
              <a:rPr lang="en-IN" smtClean="0"/>
              <a:t>13</a:t>
            </a:fld>
            <a:endParaRPr lang="en-IN"/>
          </a:p>
        </p:txBody>
      </p:sp>
    </p:spTree>
    <p:extLst>
      <p:ext uri="{BB962C8B-B14F-4D97-AF65-F5344CB8AC3E}">
        <p14:creationId xmlns:p14="http://schemas.microsoft.com/office/powerpoint/2010/main" val="2399651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9B47F-423C-1D41-9D48-60417EBACD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942D099-6519-AF6A-2117-9391EC4D65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F20CC54-2457-1241-25BE-FC89CDB56A78}"/>
              </a:ext>
            </a:extLst>
          </p:cNvPr>
          <p:cNvSpPr>
            <a:spLocks noGrp="1"/>
          </p:cNvSpPr>
          <p:nvPr>
            <p:ph type="dt" sz="half" idx="10"/>
          </p:nvPr>
        </p:nvSpPr>
        <p:spPr/>
        <p:txBody>
          <a:bodyPr/>
          <a:lstStyle/>
          <a:p>
            <a:fld id="{3FC01482-76F0-40C6-A401-1422F180F302}" type="datetimeFigureOut">
              <a:rPr lang="en-IN" smtClean="0"/>
              <a:t>27-03-2026</a:t>
            </a:fld>
            <a:endParaRPr lang="en-IN"/>
          </a:p>
        </p:txBody>
      </p:sp>
      <p:sp>
        <p:nvSpPr>
          <p:cNvPr id="5" name="Footer Placeholder 4">
            <a:extLst>
              <a:ext uri="{FF2B5EF4-FFF2-40B4-BE49-F238E27FC236}">
                <a16:creationId xmlns:a16="http://schemas.microsoft.com/office/drawing/2014/main" id="{6C1FC63D-3ED3-9A57-9F12-6E862C2C5D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7B4E90-7259-D18A-018F-3984FDA71C32}"/>
              </a:ext>
            </a:extLst>
          </p:cNvPr>
          <p:cNvSpPr>
            <a:spLocks noGrp="1"/>
          </p:cNvSpPr>
          <p:nvPr>
            <p:ph type="sldNum" sz="quarter" idx="12"/>
          </p:nvPr>
        </p:nvSpPr>
        <p:spPr/>
        <p:txBody>
          <a:bodyPr/>
          <a:lstStyle/>
          <a:p>
            <a:fld id="{1D3C258D-BAB8-4C3A-89F1-51C6FFD1839D}" type="slidenum">
              <a:rPr lang="en-IN" smtClean="0"/>
              <a:t>‹#›</a:t>
            </a:fld>
            <a:endParaRPr lang="en-IN"/>
          </a:p>
        </p:txBody>
      </p:sp>
    </p:spTree>
    <p:extLst>
      <p:ext uri="{BB962C8B-B14F-4D97-AF65-F5344CB8AC3E}">
        <p14:creationId xmlns:p14="http://schemas.microsoft.com/office/powerpoint/2010/main" val="3737888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BB700-54F4-1538-05C6-23ECD14B34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06EA76-5E97-4FF0-BA08-887506837B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090B89-00DE-0F59-12E3-F4503D6700EC}"/>
              </a:ext>
            </a:extLst>
          </p:cNvPr>
          <p:cNvSpPr>
            <a:spLocks noGrp="1"/>
          </p:cNvSpPr>
          <p:nvPr>
            <p:ph type="dt" sz="half" idx="10"/>
          </p:nvPr>
        </p:nvSpPr>
        <p:spPr/>
        <p:txBody>
          <a:bodyPr/>
          <a:lstStyle/>
          <a:p>
            <a:fld id="{3FC01482-76F0-40C6-A401-1422F180F302}" type="datetimeFigureOut">
              <a:rPr lang="en-IN" smtClean="0"/>
              <a:t>27-03-2026</a:t>
            </a:fld>
            <a:endParaRPr lang="en-IN"/>
          </a:p>
        </p:txBody>
      </p:sp>
      <p:sp>
        <p:nvSpPr>
          <p:cNvPr id="5" name="Footer Placeholder 4">
            <a:extLst>
              <a:ext uri="{FF2B5EF4-FFF2-40B4-BE49-F238E27FC236}">
                <a16:creationId xmlns:a16="http://schemas.microsoft.com/office/drawing/2014/main" id="{E7358D9F-E2A2-727F-879A-3D2B63D257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45BC75-8CE9-8505-95A0-4098BCC7CF31}"/>
              </a:ext>
            </a:extLst>
          </p:cNvPr>
          <p:cNvSpPr>
            <a:spLocks noGrp="1"/>
          </p:cNvSpPr>
          <p:nvPr>
            <p:ph type="sldNum" sz="quarter" idx="12"/>
          </p:nvPr>
        </p:nvSpPr>
        <p:spPr/>
        <p:txBody>
          <a:bodyPr/>
          <a:lstStyle/>
          <a:p>
            <a:fld id="{1D3C258D-BAB8-4C3A-89F1-51C6FFD1839D}" type="slidenum">
              <a:rPr lang="en-IN" smtClean="0"/>
              <a:t>‹#›</a:t>
            </a:fld>
            <a:endParaRPr lang="en-IN"/>
          </a:p>
        </p:txBody>
      </p:sp>
    </p:spTree>
    <p:extLst>
      <p:ext uri="{BB962C8B-B14F-4D97-AF65-F5344CB8AC3E}">
        <p14:creationId xmlns:p14="http://schemas.microsoft.com/office/powerpoint/2010/main" val="3889012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DDCFF-F053-DE02-4798-9EF9534CE6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9241466-D3E0-B706-C0FC-D392623CFE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D7479B-6A57-9108-0764-F41D428994EF}"/>
              </a:ext>
            </a:extLst>
          </p:cNvPr>
          <p:cNvSpPr>
            <a:spLocks noGrp="1"/>
          </p:cNvSpPr>
          <p:nvPr>
            <p:ph type="dt" sz="half" idx="10"/>
          </p:nvPr>
        </p:nvSpPr>
        <p:spPr/>
        <p:txBody>
          <a:bodyPr/>
          <a:lstStyle/>
          <a:p>
            <a:fld id="{3FC01482-76F0-40C6-A401-1422F180F302}" type="datetimeFigureOut">
              <a:rPr lang="en-IN" smtClean="0"/>
              <a:t>27-03-2026</a:t>
            </a:fld>
            <a:endParaRPr lang="en-IN"/>
          </a:p>
        </p:txBody>
      </p:sp>
      <p:sp>
        <p:nvSpPr>
          <p:cNvPr id="5" name="Footer Placeholder 4">
            <a:extLst>
              <a:ext uri="{FF2B5EF4-FFF2-40B4-BE49-F238E27FC236}">
                <a16:creationId xmlns:a16="http://schemas.microsoft.com/office/drawing/2014/main" id="{A307F522-CDDB-C3F9-8D8A-77C62B8E41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83EA92-F28B-BB26-F420-8D7BD6EA49C4}"/>
              </a:ext>
            </a:extLst>
          </p:cNvPr>
          <p:cNvSpPr>
            <a:spLocks noGrp="1"/>
          </p:cNvSpPr>
          <p:nvPr>
            <p:ph type="sldNum" sz="quarter" idx="12"/>
          </p:nvPr>
        </p:nvSpPr>
        <p:spPr/>
        <p:txBody>
          <a:bodyPr/>
          <a:lstStyle/>
          <a:p>
            <a:fld id="{1D3C258D-BAB8-4C3A-89F1-51C6FFD1839D}" type="slidenum">
              <a:rPr lang="en-IN" smtClean="0"/>
              <a:t>‹#›</a:t>
            </a:fld>
            <a:endParaRPr lang="en-IN"/>
          </a:p>
        </p:txBody>
      </p:sp>
    </p:spTree>
    <p:extLst>
      <p:ext uri="{BB962C8B-B14F-4D97-AF65-F5344CB8AC3E}">
        <p14:creationId xmlns:p14="http://schemas.microsoft.com/office/powerpoint/2010/main" val="3537373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FCE4B-6163-0690-F493-3A5CF3658A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2F613E-D4E0-9150-3A38-561A8A9A0C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2D65C8C-16CD-2C8E-06C9-43435418BC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D58AF5-92C8-2D9C-5C58-7E54CC15DA27}"/>
              </a:ext>
            </a:extLst>
          </p:cNvPr>
          <p:cNvSpPr>
            <a:spLocks noGrp="1"/>
          </p:cNvSpPr>
          <p:nvPr>
            <p:ph type="dt" sz="half" idx="10"/>
          </p:nvPr>
        </p:nvSpPr>
        <p:spPr/>
        <p:txBody>
          <a:bodyPr/>
          <a:lstStyle/>
          <a:p>
            <a:fld id="{3FC01482-76F0-40C6-A401-1422F180F302}" type="datetimeFigureOut">
              <a:rPr lang="en-IN" smtClean="0"/>
              <a:t>27-03-2026</a:t>
            </a:fld>
            <a:endParaRPr lang="en-IN"/>
          </a:p>
        </p:txBody>
      </p:sp>
      <p:sp>
        <p:nvSpPr>
          <p:cNvPr id="6" name="Footer Placeholder 5">
            <a:extLst>
              <a:ext uri="{FF2B5EF4-FFF2-40B4-BE49-F238E27FC236}">
                <a16:creationId xmlns:a16="http://schemas.microsoft.com/office/drawing/2014/main" id="{13C7401A-4A33-6838-6640-AAE8E89E75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9D18E0-59D3-CF0D-A441-CC6419871B16}"/>
              </a:ext>
            </a:extLst>
          </p:cNvPr>
          <p:cNvSpPr>
            <a:spLocks noGrp="1"/>
          </p:cNvSpPr>
          <p:nvPr>
            <p:ph type="sldNum" sz="quarter" idx="12"/>
          </p:nvPr>
        </p:nvSpPr>
        <p:spPr/>
        <p:txBody>
          <a:bodyPr/>
          <a:lstStyle/>
          <a:p>
            <a:fld id="{1D3C258D-BAB8-4C3A-89F1-51C6FFD1839D}" type="slidenum">
              <a:rPr lang="en-IN" smtClean="0"/>
              <a:t>‹#›</a:t>
            </a:fld>
            <a:endParaRPr lang="en-IN"/>
          </a:p>
        </p:txBody>
      </p:sp>
    </p:spTree>
    <p:extLst>
      <p:ext uri="{BB962C8B-B14F-4D97-AF65-F5344CB8AC3E}">
        <p14:creationId xmlns:p14="http://schemas.microsoft.com/office/powerpoint/2010/main" val="2192078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912D9-3415-91F1-FBEC-94D4EA5FC4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1ABF14-D10B-1FAB-BE5C-FF92EDDC30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3393BD-4C4A-83FF-36CF-67CDC8B553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060F2E0-28E8-48D0-C712-CF8A6F2A96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CD89AB-05E6-B027-04B9-8E84E0E79D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79EC700-036A-FFBE-696C-241A6B405888}"/>
              </a:ext>
            </a:extLst>
          </p:cNvPr>
          <p:cNvSpPr>
            <a:spLocks noGrp="1"/>
          </p:cNvSpPr>
          <p:nvPr>
            <p:ph type="dt" sz="half" idx="10"/>
          </p:nvPr>
        </p:nvSpPr>
        <p:spPr/>
        <p:txBody>
          <a:bodyPr/>
          <a:lstStyle/>
          <a:p>
            <a:fld id="{3FC01482-76F0-40C6-A401-1422F180F302}" type="datetimeFigureOut">
              <a:rPr lang="en-IN" smtClean="0"/>
              <a:t>27-03-2026</a:t>
            </a:fld>
            <a:endParaRPr lang="en-IN"/>
          </a:p>
        </p:txBody>
      </p:sp>
      <p:sp>
        <p:nvSpPr>
          <p:cNvPr id="8" name="Footer Placeholder 7">
            <a:extLst>
              <a:ext uri="{FF2B5EF4-FFF2-40B4-BE49-F238E27FC236}">
                <a16:creationId xmlns:a16="http://schemas.microsoft.com/office/drawing/2014/main" id="{39456E89-1364-F1D3-1342-B374BAE34A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17F4D2B-4094-30B8-6D3D-84F2B01CECE9}"/>
              </a:ext>
            </a:extLst>
          </p:cNvPr>
          <p:cNvSpPr>
            <a:spLocks noGrp="1"/>
          </p:cNvSpPr>
          <p:nvPr>
            <p:ph type="sldNum" sz="quarter" idx="12"/>
          </p:nvPr>
        </p:nvSpPr>
        <p:spPr/>
        <p:txBody>
          <a:bodyPr/>
          <a:lstStyle/>
          <a:p>
            <a:fld id="{1D3C258D-BAB8-4C3A-89F1-51C6FFD1839D}" type="slidenum">
              <a:rPr lang="en-IN" smtClean="0"/>
              <a:t>‹#›</a:t>
            </a:fld>
            <a:endParaRPr lang="en-IN"/>
          </a:p>
        </p:txBody>
      </p:sp>
    </p:spTree>
    <p:extLst>
      <p:ext uri="{BB962C8B-B14F-4D97-AF65-F5344CB8AC3E}">
        <p14:creationId xmlns:p14="http://schemas.microsoft.com/office/powerpoint/2010/main" val="2741495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F8561-4773-78EA-7AB5-03961BDA297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D8D9473-9497-14E4-C8A4-7FF381F2B8C2}"/>
              </a:ext>
            </a:extLst>
          </p:cNvPr>
          <p:cNvSpPr>
            <a:spLocks noGrp="1"/>
          </p:cNvSpPr>
          <p:nvPr>
            <p:ph type="dt" sz="half" idx="10"/>
          </p:nvPr>
        </p:nvSpPr>
        <p:spPr/>
        <p:txBody>
          <a:bodyPr/>
          <a:lstStyle/>
          <a:p>
            <a:fld id="{3FC01482-76F0-40C6-A401-1422F180F302}" type="datetimeFigureOut">
              <a:rPr lang="en-IN" smtClean="0"/>
              <a:t>27-03-2026</a:t>
            </a:fld>
            <a:endParaRPr lang="en-IN"/>
          </a:p>
        </p:txBody>
      </p:sp>
      <p:sp>
        <p:nvSpPr>
          <p:cNvPr id="4" name="Footer Placeholder 3">
            <a:extLst>
              <a:ext uri="{FF2B5EF4-FFF2-40B4-BE49-F238E27FC236}">
                <a16:creationId xmlns:a16="http://schemas.microsoft.com/office/drawing/2014/main" id="{0FCE4BFD-B632-1B4E-4D27-F24CE436DFB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3AE89DD-5CF4-076D-84B2-53F919D02DFA}"/>
              </a:ext>
            </a:extLst>
          </p:cNvPr>
          <p:cNvSpPr>
            <a:spLocks noGrp="1"/>
          </p:cNvSpPr>
          <p:nvPr>
            <p:ph type="sldNum" sz="quarter" idx="12"/>
          </p:nvPr>
        </p:nvSpPr>
        <p:spPr/>
        <p:txBody>
          <a:bodyPr/>
          <a:lstStyle/>
          <a:p>
            <a:fld id="{1D3C258D-BAB8-4C3A-89F1-51C6FFD1839D}" type="slidenum">
              <a:rPr lang="en-IN" smtClean="0"/>
              <a:t>‹#›</a:t>
            </a:fld>
            <a:endParaRPr lang="en-IN"/>
          </a:p>
        </p:txBody>
      </p:sp>
    </p:spTree>
    <p:extLst>
      <p:ext uri="{BB962C8B-B14F-4D97-AF65-F5344CB8AC3E}">
        <p14:creationId xmlns:p14="http://schemas.microsoft.com/office/powerpoint/2010/main" val="3878333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8D22BC-FF95-9142-370A-CC75C7883539}"/>
              </a:ext>
            </a:extLst>
          </p:cNvPr>
          <p:cNvSpPr>
            <a:spLocks noGrp="1"/>
          </p:cNvSpPr>
          <p:nvPr>
            <p:ph type="dt" sz="half" idx="10"/>
          </p:nvPr>
        </p:nvSpPr>
        <p:spPr/>
        <p:txBody>
          <a:bodyPr/>
          <a:lstStyle/>
          <a:p>
            <a:fld id="{3FC01482-76F0-40C6-A401-1422F180F302}" type="datetimeFigureOut">
              <a:rPr lang="en-IN" smtClean="0"/>
              <a:t>27-03-2026</a:t>
            </a:fld>
            <a:endParaRPr lang="en-IN"/>
          </a:p>
        </p:txBody>
      </p:sp>
      <p:sp>
        <p:nvSpPr>
          <p:cNvPr id="3" name="Footer Placeholder 2">
            <a:extLst>
              <a:ext uri="{FF2B5EF4-FFF2-40B4-BE49-F238E27FC236}">
                <a16:creationId xmlns:a16="http://schemas.microsoft.com/office/drawing/2014/main" id="{5950C4F4-0F5E-B6F0-8E12-CE27D3CCA9C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27D94F4-7743-91D5-2B6C-FD3E8CFD2A80}"/>
              </a:ext>
            </a:extLst>
          </p:cNvPr>
          <p:cNvSpPr>
            <a:spLocks noGrp="1"/>
          </p:cNvSpPr>
          <p:nvPr>
            <p:ph type="sldNum" sz="quarter" idx="12"/>
          </p:nvPr>
        </p:nvSpPr>
        <p:spPr/>
        <p:txBody>
          <a:bodyPr/>
          <a:lstStyle/>
          <a:p>
            <a:fld id="{1D3C258D-BAB8-4C3A-89F1-51C6FFD1839D}" type="slidenum">
              <a:rPr lang="en-IN" smtClean="0"/>
              <a:t>‹#›</a:t>
            </a:fld>
            <a:endParaRPr lang="en-IN"/>
          </a:p>
        </p:txBody>
      </p:sp>
    </p:spTree>
    <p:extLst>
      <p:ext uri="{BB962C8B-B14F-4D97-AF65-F5344CB8AC3E}">
        <p14:creationId xmlns:p14="http://schemas.microsoft.com/office/powerpoint/2010/main" val="4038639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BFAF1-31E4-013A-AFEF-303BD9071A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EBDDA88-3F57-0F0D-E4A9-997790658E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5ACFE0F-EE52-AC71-8A36-980FA86680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7DDFAF-F831-C3E6-2940-360B1C30AB75}"/>
              </a:ext>
            </a:extLst>
          </p:cNvPr>
          <p:cNvSpPr>
            <a:spLocks noGrp="1"/>
          </p:cNvSpPr>
          <p:nvPr>
            <p:ph type="dt" sz="half" idx="10"/>
          </p:nvPr>
        </p:nvSpPr>
        <p:spPr/>
        <p:txBody>
          <a:bodyPr/>
          <a:lstStyle/>
          <a:p>
            <a:fld id="{3FC01482-76F0-40C6-A401-1422F180F302}" type="datetimeFigureOut">
              <a:rPr lang="en-IN" smtClean="0"/>
              <a:t>27-03-2026</a:t>
            </a:fld>
            <a:endParaRPr lang="en-IN"/>
          </a:p>
        </p:txBody>
      </p:sp>
      <p:sp>
        <p:nvSpPr>
          <p:cNvPr id="6" name="Footer Placeholder 5">
            <a:extLst>
              <a:ext uri="{FF2B5EF4-FFF2-40B4-BE49-F238E27FC236}">
                <a16:creationId xmlns:a16="http://schemas.microsoft.com/office/drawing/2014/main" id="{91CA5293-783E-BD99-734A-8644660932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39D35C-E7A9-412E-8CF4-4F83AF59BF5B}"/>
              </a:ext>
            </a:extLst>
          </p:cNvPr>
          <p:cNvSpPr>
            <a:spLocks noGrp="1"/>
          </p:cNvSpPr>
          <p:nvPr>
            <p:ph type="sldNum" sz="quarter" idx="12"/>
          </p:nvPr>
        </p:nvSpPr>
        <p:spPr/>
        <p:txBody>
          <a:bodyPr/>
          <a:lstStyle/>
          <a:p>
            <a:fld id="{1D3C258D-BAB8-4C3A-89F1-51C6FFD1839D}" type="slidenum">
              <a:rPr lang="en-IN" smtClean="0"/>
              <a:t>‹#›</a:t>
            </a:fld>
            <a:endParaRPr lang="en-IN"/>
          </a:p>
        </p:txBody>
      </p:sp>
    </p:spTree>
    <p:extLst>
      <p:ext uri="{BB962C8B-B14F-4D97-AF65-F5344CB8AC3E}">
        <p14:creationId xmlns:p14="http://schemas.microsoft.com/office/powerpoint/2010/main" val="1183357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608F-B30A-1A26-0444-3767AFD028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546C08C-2B35-33B2-E574-0C6A6DA64D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5CA7112-CAD0-6F8B-CBA0-F4498B6434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CB77FD-2C53-EC58-E0B3-A0C584DAFDB4}"/>
              </a:ext>
            </a:extLst>
          </p:cNvPr>
          <p:cNvSpPr>
            <a:spLocks noGrp="1"/>
          </p:cNvSpPr>
          <p:nvPr>
            <p:ph type="dt" sz="half" idx="10"/>
          </p:nvPr>
        </p:nvSpPr>
        <p:spPr/>
        <p:txBody>
          <a:bodyPr/>
          <a:lstStyle/>
          <a:p>
            <a:fld id="{3FC01482-76F0-40C6-A401-1422F180F302}" type="datetimeFigureOut">
              <a:rPr lang="en-IN" smtClean="0"/>
              <a:t>27-03-2026</a:t>
            </a:fld>
            <a:endParaRPr lang="en-IN"/>
          </a:p>
        </p:txBody>
      </p:sp>
      <p:sp>
        <p:nvSpPr>
          <p:cNvPr id="6" name="Footer Placeholder 5">
            <a:extLst>
              <a:ext uri="{FF2B5EF4-FFF2-40B4-BE49-F238E27FC236}">
                <a16:creationId xmlns:a16="http://schemas.microsoft.com/office/drawing/2014/main" id="{F0F27F83-6804-1674-AE46-0D9B02F88D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F0A5DB-EBAE-F830-EF0E-F19771B1BAB2}"/>
              </a:ext>
            </a:extLst>
          </p:cNvPr>
          <p:cNvSpPr>
            <a:spLocks noGrp="1"/>
          </p:cNvSpPr>
          <p:nvPr>
            <p:ph type="sldNum" sz="quarter" idx="12"/>
          </p:nvPr>
        </p:nvSpPr>
        <p:spPr/>
        <p:txBody>
          <a:bodyPr/>
          <a:lstStyle/>
          <a:p>
            <a:fld id="{1D3C258D-BAB8-4C3A-89F1-51C6FFD1839D}" type="slidenum">
              <a:rPr lang="en-IN" smtClean="0"/>
              <a:t>‹#›</a:t>
            </a:fld>
            <a:endParaRPr lang="en-IN"/>
          </a:p>
        </p:txBody>
      </p:sp>
    </p:spTree>
    <p:extLst>
      <p:ext uri="{BB962C8B-B14F-4D97-AF65-F5344CB8AC3E}">
        <p14:creationId xmlns:p14="http://schemas.microsoft.com/office/powerpoint/2010/main" val="313484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B28E8-B1D6-34E7-E718-A5830B2E429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4D1A45-7B28-E1F1-BC50-CADD238485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93AB0A-9B32-76E5-4DE2-C2E8AAA87B43}"/>
              </a:ext>
            </a:extLst>
          </p:cNvPr>
          <p:cNvSpPr>
            <a:spLocks noGrp="1"/>
          </p:cNvSpPr>
          <p:nvPr>
            <p:ph type="dt" sz="half" idx="10"/>
          </p:nvPr>
        </p:nvSpPr>
        <p:spPr/>
        <p:txBody>
          <a:bodyPr/>
          <a:lstStyle/>
          <a:p>
            <a:fld id="{3FC01482-76F0-40C6-A401-1422F180F302}" type="datetimeFigureOut">
              <a:rPr lang="en-IN" smtClean="0"/>
              <a:t>27-03-2026</a:t>
            </a:fld>
            <a:endParaRPr lang="en-IN"/>
          </a:p>
        </p:txBody>
      </p:sp>
      <p:sp>
        <p:nvSpPr>
          <p:cNvPr id="5" name="Footer Placeholder 4">
            <a:extLst>
              <a:ext uri="{FF2B5EF4-FFF2-40B4-BE49-F238E27FC236}">
                <a16:creationId xmlns:a16="http://schemas.microsoft.com/office/drawing/2014/main" id="{09C2FB8F-2E21-1951-5551-56E0CAE538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9AF5F8-1B56-9CF2-1C23-E2B6EEC2DF45}"/>
              </a:ext>
            </a:extLst>
          </p:cNvPr>
          <p:cNvSpPr>
            <a:spLocks noGrp="1"/>
          </p:cNvSpPr>
          <p:nvPr>
            <p:ph type="sldNum" sz="quarter" idx="12"/>
          </p:nvPr>
        </p:nvSpPr>
        <p:spPr/>
        <p:txBody>
          <a:bodyPr/>
          <a:lstStyle/>
          <a:p>
            <a:fld id="{1D3C258D-BAB8-4C3A-89F1-51C6FFD1839D}" type="slidenum">
              <a:rPr lang="en-IN" smtClean="0"/>
              <a:t>‹#›</a:t>
            </a:fld>
            <a:endParaRPr lang="en-IN"/>
          </a:p>
        </p:txBody>
      </p:sp>
    </p:spTree>
    <p:extLst>
      <p:ext uri="{BB962C8B-B14F-4D97-AF65-F5344CB8AC3E}">
        <p14:creationId xmlns:p14="http://schemas.microsoft.com/office/powerpoint/2010/main" val="2435865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A185DD-3F44-710E-63B5-F15C1FB1D0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DA0CE0-E76C-C3C9-6016-539A00EB2E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B80B38-E5F1-D731-784D-283E7206C009}"/>
              </a:ext>
            </a:extLst>
          </p:cNvPr>
          <p:cNvSpPr>
            <a:spLocks noGrp="1"/>
          </p:cNvSpPr>
          <p:nvPr>
            <p:ph type="dt" sz="half" idx="10"/>
          </p:nvPr>
        </p:nvSpPr>
        <p:spPr/>
        <p:txBody>
          <a:bodyPr/>
          <a:lstStyle/>
          <a:p>
            <a:fld id="{3FC01482-76F0-40C6-A401-1422F180F302}" type="datetimeFigureOut">
              <a:rPr lang="en-IN" smtClean="0"/>
              <a:t>27-03-2026</a:t>
            </a:fld>
            <a:endParaRPr lang="en-IN"/>
          </a:p>
        </p:txBody>
      </p:sp>
      <p:sp>
        <p:nvSpPr>
          <p:cNvPr id="5" name="Footer Placeholder 4">
            <a:extLst>
              <a:ext uri="{FF2B5EF4-FFF2-40B4-BE49-F238E27FC236}">
                <a16:creationId xmlns:a16="http://schemas.microsoft.com/office/drawing/2014/main" id="{CACF9F90-A59D-32F9-F203-0016F164ED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35EB3E-E327-E5D3-C6C3-CE594B6C95BF}"/>
              </a:ext>
            </a:extLst>
          </p:cNvPr>
          <p:cNvSpPr>
            <a:spLocks noGrp="1"/>
          </p:cNvSpPr>
          <p:nvPr>
            <p:ph type="sldNum" sz="quarter" idx="12"/>
          </p:nvPr>
        </p:nvSpPr>
        <p:spPr/>
        <p:txBody>
          <a:bodyPr/>
          <a:lstStyle/>
          <a:p>
            <a:fld id="{1D3C258D-BAB8-4C3A-89F1-51C6FFD1839D}" type="slidenum">
              <a:rPr lang="en-IN" smtClean="0"/>
              <a:t>‹#›</a:t>
            </a:fld>
            <a:endParaRPr lang="en-IN"/>
          </a:p>
        </p:txBody>
      </p:sp>
    </p:spTree>
    <p:extLst>
      <p:ext uri="{BB962C8B-B14F-4D97-AF65-F5344CB8AC3E}">
        <p14:creationId xmlns:p14="http://schemas.microsoft.com/office/powerpoint/2010/main" val="131687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34E173-5C5B-376F-E8D0-D1B3EB91E5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FD16003-E372-49D3-FE63-3738C9CA56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39E14A-E938-9BDD-B4CC-C675028241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C01482-76F0-40C6-A401-1422F180F302}" type="datetimeFigureOut">
              <a:rPr lang="en-IN" smtClean="0"/>
              <a:t>27-03-2026</a:t>
            </a:fld>
            <a:endParaRPr lang="en-IN"/>
          </a:p>
        </p:txBody>
      </p:sp>
      <p:sp>
        <p:nvSpPr>
          <p:cNvPr id="5" name="Footer Placeholder 4">
            <a:extLst>
              <a:ext uri="{FF2B5EF4-FFF2-40B4-BE49-F238E27FC236}">
                <a16:creationId xmlns:a16="http://schemas.microsoft.com/office/drawing/2014/main" id="{0AFC2570-7084-E606-935C-515E4C8847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B767BC0-B4EB-954E-91C5-2005E74ED0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3C258D-BAB8-4C3A-89F1-51C6FFD1839D}" type="slidenum">
              <a:rPr lang="en-IN" smtClean="0"/>
              <a:t>‹#›</a:t>
            </a:fld>
            <a:endParaRPr lang="en-IN"/>
          </a:p>
        </p:txBody>
      </p:sp>
    </p:spTree>
    <p:extLst>
      <p:ext uri="{BB962C8B-B14F-4D97-AF65-F5344CB8AC3E}">
        <p14:creationId xmlns:p14="http://schemas.microsoft.com/office/powerpoint/2010/main" val="32429735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hemeOverride" Target="../theme/themeOverride1.xml"/><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E59C1-2084-B7DD-26C2-315B7E0733FD}"/>
              </a:ext>
            </a:extLst>
          </p:cNvPr>
          <p:cNvSpPr>
            <a:spLocks noGrp="1"/>
          </p:cNvSpPr>
          <p:nvPr>
            <p:ph type="ctrTitle"/>
          </p:nvPr>
        </p:nvSpPr>
        <p:spPr>
          <a:xfrm>
            <a:off x="2101516" y="2098675"/>
            <a:ext cx="9144000" cy="2387600"/>
          </a:xfrm>
        </p:spPr>
        <p:txBody>
          <a:bodyPr>
            <a:normAutofit/>
          </a:bodyPr>
          <a:lstStyle/>
          <a:p>
            <a:pPr algn="r"/>
            <a:r>
              <a:rPr lang="en-IN" sz="5400" b="1" dirty="0">
                <a:latin typeface="Times New Roman" panose="02020603050405020304" pitchFamily="18" charset="0"/>
                <a:cs typeface="Times New Roman" panose="02020603050405020304" pitchFamily="18" charset="0"/>
              </a:rPr>
              <a:t>		IT TICKET ANALYSIS</a:t>
            </a:r>
          </a:p>
        </p:txBody>
      </p:sp>
      <p:sp>
        <p:nvSpPr>
          <p:cNvPr id="3" name="Subtitle 2">
            <a:extLst>
              <a:ext uri="{FF2B5EF4-FFF2-40B4-BE49-F238E27FC236}">
                <a16:creationId xmlns:a16="http://schemas.microsoft.com/office/drawing/2014/main" id="{C2DE741B-4355-35B4-6FBF-6B01C4B307B8}"/>
              </a:ext>
            </a:extLst>
          </p:cNvPr>
          <p:cNvSpPr>
            <a:spLocks noGrp="1"/>
          </p:cNvSpPr>
          <p:nvPr>
            <p:ph type="subTitle" idx="1"/>
          </p:nvPr>
        </p:nvSpPr>
        <p:spPr>
          <a:xfrm>
            <a:off x="2101516" y="4697942"/>
            <a:ext cx="9144000" cy="1655762"/>
          </a:xfrm>
        </p:spPr>
        <p:txBody>
          <a:bodyPr>
            <a:normAutofit/>
          </a:bodyPr>
          <a:lstStyle/>
          <a:p>
            <a:pPr algn="r"/>
            <a:r>
              <a:rPr lang="en-IN" sz="4000" b="1" dirty="0">
                <a:latin typeface="Times New Roman" panose="02020603050405020304" pitchFamily="18" charset="0"/>
                <a:cs typeface="Times New Roman" panose="02020603050405020304" pitchFamily="18" charset="0"/>
              </a:rPr>
              <a:t>Sandeep Koduru</a:t>
            </a:r>
          </a:p>
          <a:p>
            <a:pPr algn="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1B00068-DFF4-4F9C-8ED8-1C2CF0DFB8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6579" y="703045"/>
            <a:ext cx="3735034" cy="2037291"/>
          </a:xfrm>
          <a:prstGeom prst="flowChartAlternateProcess">
            <a:avLst/>
          </a:prstGeom>
          <a:solidFill>
            <a:schemeClr val="bg1"/>
          </a:solidFill>
          <a:ln w="88900" cap="sq">
            <a:solidFill>
              <a:srgbClr val="FFFFFF"/>
            </a:solidFill>
            <a:miter lim="800000"/>
          </a:ln>
          <a:effectLst>
            <a:glow rad="63500">
              <a:schemeClr val="accent1">
                <a:satMod val="175000"/>
                <a:alpha val="40000"/>
              </a:schemeClr>
            </a:glow>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AutoShape 2" descr="Generated image">
            <a:extLst>
              <a:ext uri="{FF2B5EF4-FFF2-40B4-BE49-F238E27FC236}">
                <a16:creationId xmlns:a16="http://schemas.microsoft.com/office/drawing/2014/main" id="{FBAF0830-EA10-46A3-3A3D-CF7DA35A1B9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732502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04689-E440-45D7-DED7-0E9B05ACFC9E}"/>
              </a:ext>
            </a:extLst>
          </p:cNvPr>
          <p:cNvSpPr>
            <a:spLocks noGrp="1"/>
          </p:cNvSpPr>
          <p:nvPr>
            <p:ph type="title"/>
          </p:nvPr>
        </p:nvSpPr>
        <p:spPr>
          <a:xfrm>
            <a:off x="838200" y="291570"/>
            <a:ext cx="10515600"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D62B0FE2-2475-5BD2-C95C-3CAEA2407BBA}"/>
              </a:ext>
            </a:extLst>
          </p:cNvPr>
          <p:cNvSpPr txBox="1"/>
          <p:nvPr/>
        </p:nvSpPr>
        <p:spPr>
          <a:xfrm>
            <a:off x="765749" y="1617133"/>
            <a:ext cx="10660501" cy="4247317"/>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today’s organizations, IT support teams manage a high volume of service requests and incident tickets daily. These tickets include hardware failures, software issues, network problems, login/access errors, and system outages. Efficient tracking and analysis of these tickets are essential to ensure timely resolution and improved service quality.</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IT Ticket Analysis Excel Project focuses on analyzing IT support ticket data using Microsoft Excel. The project involves organizing raw ticket data, cleaning inconsistencies, and transforming it into meaningful insights using Excel tools such as formulas, Pivot Tables, charts, and dashboards.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Through structured analysis, the project helps monitor important service metrics like ticket volume, resolution time, priority levels, and technician performance. This enables better resource allocation, faster issue resolution, and data-driven decision-making within the IT support team.</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project demonstrates how Excel can be effectively used as a powerful data analysis and reporting tool in a real-world IT service environment.</a:t>
            </a:r>
          </a:p>
        </p:txBody>
      </p:sp>
    </p:spTree>
    <p:extLst>
      <p:ext uri="{BB962C8B-B14F-4D97-AF65-F5344CB8AC3E}">
        <p14:creationId xmlns:p14="http://schemas.microsoft.com/office/powerpoint/2010/main" val="4274935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9498-07E9-1634-01CE-0C42B57AC3D5}"/>
              </a:ext>
            </a:extLst>
          </p:cNvPr>
          <p:cNvSpPr>
            <a:spLocks noGrp="1"/>
          </p:cNvSpPr>
          <p:nvPr>
            <p:ph type="title"/>
          </p:nvPr>
        </p:nvSpPr>
        <p:spPr>
          <a:xfrm>
            <a:off x="838200" y="283104"/>
            <a:ext cx="10515600"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Objectives</a:t>
            </a:r>
          </a:p>
        </p:txBody>
      </p:sp>
      <p:sp>
        <p:nvSpPr>
          <p:cNvPr id="3" name="TextBox 2">
            <a:extLst>
              <a:ext uri="{FF2B5EF4-FFF2-40B4-BE49-F238E27FC236}">
                <a16:creationId xmlns:a16="http://schemas.microsoft.com/office/drawing/2014/main" id="{06C21FAB-8566-CC72-D38C-C3C9E5E5235E}"/>
              </a:ext>
            </a:extLst>
          </p:cNvPr>
          <p:cNvSpPr txBox="1"/>
          <p:nvPr/>
        </p:nvSpPr>
        <p:spPr>
          <a:xfrm>
            <a:off x="164125" y="1515533"/>
            <a:ext cx="7220823" cy="4520725"/>
          </a:xfrm>
          <a:prstGeom prst="rect">
            <a:avLst/>
          </a:prstGeom>
          <a:noFill/>
        </p:spPr>
        <p:txBody>
          <a:bodyPr wrap="none"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main objectives of this project are:</a:t>
            </a:r>
          </a:p>
          <a:p>
            <a:pPr lvl="1" algn="just">
              <a:lnSpc>
                <a:spcPct val="150000"/>
              </a:lnSpc>
            </a:pPr>
            <a:r>
              <a:rPr lang="en-US" sz="1600" dirty="0">
                <a:latin typeface="Times New Roman" panose="02020603050405020304" pitchFamily="18" charset="0"/>
                <a:cs typeface="Times New Roman" panose="02020603050405020304" pitchFamily="18" charset="0"/>
              </a:rPr>
              <a:t>• To organize and standardize raw IT ticket data for accurate analysis.</a:t>
            </a:r>
          </a:p>
          <a:p>
            <a:pPr lvl="1" algn="just">
              <a:lnSpc>
                <a:spcPct val="150000"/>
              </a:lnSpc>
            </a:pPr>
            <a:r>
              <a:rPr lang="en-US" sz="1600" dirty="0">
                <a:latin typeface="Times New Roman" panose="02020603050405020304" pitchFamily="18" charset="0"/>
                <a:cs typeface="Times New Roman" panose="02020603050405020304" pitchFamily="18" charset="0"/>
              </a:rPr>
              <a:t>• To analyze ticket distribution based on categories, priorities, and status.</a:t>
            </a:r>
          </a:p>
          <a:p>
            <a:pPr lvl="1" algn="just">
              <a:lnSpc>
                <a:spcPct val="150000"/>
              </a:lnSpc>
            </a:pPr>
            <a:r>
              <a:rPr lang="en-US" sz="1600" dirty="0">
                <a:latin typeface="Times New Roman" panose="02020603050405020304" pitchFamily="18" charset="0"/>
                <a:cs typeface="Times New Roman" panose="02020603050405020304" pitchFamily="18" charset="0"/>
              </a:rPr>
              <a:t>• To calculate key performance indicators (KPIs) such as:</a:t>
            </a:r>
          </a:p>
          <a:p>
            <a:pPr marL="1200150" lvl="2"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Total number of tickets</a:t>
            </a:r>
          </a:p>
          <a:p>
            <a:pPr marL="1200150" lvl="2"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Open vs. Closed tickets</a:t>
            </a:r>
          </a:p>
          <a:p>
            <a:pPr marL="1200150" lvl="2"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Average resolution time</a:t>
            </a:r>
          </a:p>
          <a:p>
            <a:pPr marL="1200150" lvl="2"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High-priority ticket count</a:t>
            </a:r>
          </a:p>
          <a:p>
            <a:pPr lvl="1" algn="just">
              <a:lnSpc>
                <a:spcPct val="150000"/>
              </a:lnSpc>
            </a:pPr>
            <a:r>
              <a:rPr lang="en-US" sz="1600" dirty="0">
                <a:latin typeface="Times New Roman" panose="02020603050405020304" pitchFamily="18" charset="0"/>
                <a:cs typeface="Times New Roman" panose="02020603050405020304" pitchFamily="18" charset="0"/>
              </a:rPr>
              <a:t>• To evaluate technician workload and performance.</a:t>
            </a:r>
          </a:p>
          <a:p>
            <a:pPr lvl="1" algn="just">
              <a:lnSpc>
                <a:spcPct val="150000"/>
              </a:lnSpc>
            </a:pPr>
            <a:r>
              <a:rPr lang="en-US" sz="1600" dirty="0">
                <a:latin typeface="Times New Roman" panose="02020603050405020304" pitchFamily="18" charset="0"/>
                <a:cs typeface="Times New Roman" panose="02020603050405020304" pitchFamily="18" charset="0"/>
              </a:rPr>
              <a:t>• To create Pivot Tables and Charts for visual representation of data.</a:t>
            </a:r>
          </a:p>
          <a:p>
            <a:pPr lvl="1" algn="just">
              <a:lnSpc>
                <a:spcPct val="150000"/>
              </a:lnSpc>
            </a:pPr>
            <a:r>
              <a:rPr lang="en-US" sz="1600" dirty="0">
                <a:latin typeface="Times New Roman" panose="02020603050405020304" pitchFamily="18" charset="0"/>
                <a:cs typeface="Times New Roman" panose="02020603050405020304" pitchFamily="18" charset="0"/>
              </a:rPr>
              <a:t>• To design an interactive Excel dashboard for quick reporting and monitoring.</a:t>
            </a:r>
          </a:p>
          <a:p>
            <a:pPr lvl="1" algn="just">
              <a:lnSpc>
                <a:spcPct val="150000"/>
              </a:lnSpc>
            </a:pPr>
            <a:r>
              <a:rPr lang="en-US" sz="1600" dirty="0">
                <a:latin typeface="Times New Roman" panose="02020603050405020304" pitchFamily="18" charset="0"/>
                <a:cs typeface="Times New Roman" panose="02020603050405020304" pitchFamily="18" charset="0"/>
              </a:rPr>
              <a:t>• To identify recurring technical issues and suggest improvement areas.</a:t>
            </a:r>
            <a:endParaRPr lang="en-IN" sz="1600" dirty="0">
              <a:latin typeface="Times New Roman" panose="02020603050405020304" pitchFamily="18" charset="0"/>
              <a:cs typeface="Times New Roman" panose="02020603050405020304" pitchFamily="18" charset="0"/>
            </a:endParaRPr>
          </a:p>
        </p:txBody>
      </p:sp>
      <p:pic>
        <p:nvPicPr>
          <p:cNvPr id="1026" name="Picture 2" descr="How to Write Objectives | A Step-to-step Guide | 2025 Updates - AhaSlides">
            <a:extLst>
              <a:ext uri="{FF2B5EF4-FFF2-40B4-BE49-F238E27FC236}">
                <a16:creationId xmlns:a16="http://schemas.microsoft.com/office/drawing/2014/main" id="{06BE78BC-CFDC-7309-1681-23042B53A7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6771" y="2294465"/>
            <a:ext cx="4934859" cy="2590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76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8824A-708E-546D-A9AE-AC912BE7927E}"/>
              </a:ext>
            </a:extLst>
          </p:cNvPr>
          <p:cNvSpPr>
            <a:spLocks noGrp="1"/>
          </p:cNvSpPr>
          <p:nvPr>
            <p:ph type="title"/>
          </p:nvPr>
        </p:nvSpPr>
        <p:spPr>
          <a:xfrm>
            <a:off x="838200" y="32133"/>
            <a:ext cx="10515600" cy="1325563"/>
          </a:xfrm>
        </p:spPr>
        <p:txBody>
          <a:bodyPr>
            <a:normAutofit/>
          </a:bodyPr>
          <a:lstStyle/>
          <a:p>
            <a:pPr algn="ctr"/>
            <a:r>
              <a:rPr lang="en-IN" sz="3200" b="1" dirty="0">
                <a:latin typeface="Times New Roman" panose="02020603050405020304" pitchFamily="18" charset="0"/>
                <a:cs typeface="Times New Roman" panose="02020603050405020304" pitchFamily="18" charset="0"/>
              </a:rPr>
              <a:t>Data Overview</a:t>
            </a:r>
          </a:p>
        </p:txBody>
      </p:sp>
      <p:sp>
        <p:nvSpPr>
          <p:cNvPr id="3" name="TextBox 2">
            <a:extLst>
              <a:ext uri="{FF2B5EF4-FFF2-40B4-BE49-F238E27FC236}">
                <a16:creationId xmlns:a16="http://schemas.microsoft.com/office/drawing/2014/main" id="{9C235F15-6154-029E-1E4F-2820E2B675FE}"/>
              </a:ext>
            </a:extLst>
          </p:cNvPr>
          <p:cNvSpPr txBox="1"/>
          <p:nvPr/>
        </p:nvSpPr>
        <p:spPr>
          <a:xfrm>
            <a:off x="571500" y="1357696"/>
            <a:ext cx="11049000" cy="4524315"/>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report examines a dataset comprising 97,498 IT help desk tickets extracted from an internal service management system. The purpose of the analysis is to evaluate operational performance and identify recurring patterns within support activities.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dataset consists of two main tables. The “Tickets Sheet” contains detailed records of all service requests, while the “IT Agents Sheet” provides background information about the support staff responsible for resolving those tickets.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evaluation focuses on key metrics such as the “mean resolution time”, which stands at roughly 5 days, and employee satisfaction scores, measured on a five-point scale.</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Workload analysis shows that the help desk receives an average of 53 new tickets per day, reflecting a stable and continuous demand for support services.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Each ticket is classified using multiple attributes, including Request Category (for example, Login Access or System-related issues), Issue Type, Severity Level, and Priority Level. This structured classification allows for a detailed examination of the types and urgency of issues reported.</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By integrating the ticket records with agent details through the Agent ID, the analysis enables performance comparisons across agents and supports insights into how outcomes vary based on agent-specific characteristics.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2997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F5F7F-AB98-70B2-EEF8-E664D24312AE}"/>
              </a:ext>
            </a:extLst>
          </p:cNvPr>
          <p:cNvSpPr>
            <a:spLocks noGrp="1"/>
          </p:cNvSpPr>
          <p:nvPr>
            <p:ph type="title"/>
          </p:nvPr>
        </p:nvSpPr>
        <p:spPr>
          <a:xfrm>
            <a:off x="838200" y="9518"/>
            <a:ext cx="10515600" cy="1325563"/>
          </a:xfrm>
        </p:spPr>
        <p:txBody>
          <a:bodyPr>
            <a:normAutofit/>
          </a:bodyPr>
          <a:lstStyle/>
          <a:p>
            <a:pPr algn="ctr"/>
            <a:r>
              <a:rPr lang="en-IN" sz="3200" b="1" dirty="0">
                <a:latin typeface="Times New Roman" panose="02020603050405020304" pitchFamily="18" charset="0"/>
                <a:cs typeface="Times New Roman" panose="02020603050405020304" pitchFamily="18" charset="0"/>
              </a:rPr>
              <a:t>Methodology</a:t>
            </a:r>
          </a:p>
        </p:txBody>
      </p:sp>
      <p:sp>
        <p:nvSpPr>
          <p:cNvPr id="3" name="TextBox 2">
            <a:extLst>
              <a:ext uri="{FF2B5EF4-FFF2-40B4-BE49-F238E27FC236}">
                <a16:creationId xmlns:a16="http://schemas.microsoft.com/office/drawing/2014/main" id="{3130176C-402D-B8B5-2A24-524DC7CE818D}"/>
              </a:ext>
            </a:extLst>
          </p:cNvPr>
          <p:cNvSpPr txBox="1"/>
          <p:nvPr/>
        </p:nvSpPr>
        <p:spPr>
          <a:xfrm>
            <a:off x="813223" y="1930948"/>
            <a:ext cx="7755467" cy="3970318"/>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Our analytical approach follows a top-to-bottom lifecycle:</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     Data Merging: Consolidating 97k+ tickets with 50 agent profiles via </a:t>
            </a:r>
          </a:p>
          <a:p>
            <a:pPr algn="just"/>
            <a:r>
              <a:rPr lang="en-US" dirty="0">
                <a:latin typeface="Times New Roman" panose="02020603050405020304" pitchFamily="18" charset="0"/>
                <a:cs typeface="Times New Roman" panose="02020603050405020304" pitchFamily="18" charset="0"/>
              </a:rPr>
              <a:t>       Agent ID.</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II.    Segmentation: Slicing data by Category, Severity, and Priority.</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III.   KPI Analysis: Benchmarking Resolution Time, Satisfaction, and Daily </a:t>
            </a:r>
          </a:p>
          <a:p>
            <a:pPr algn="just"/>
            <a:r>
              <a:rPr lang="en-US" dirty="0">
                <a:latin typeface="Times New Roman" panose="02020603050405020304" pitchFamily="18" charset="0"/>
                <a:cs typeface="Times New Roman" panose="02020603050405020304" pitchFamily="18" charset="0"/>
              </a:rPr>
              <a:t>       Volume.</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IV.   Strategic Insights: Forecasting peak periods and identifying </a:t>
            </a:r>
          </a:p>
          <a:p>
            <a:pPr algn="just"/>
            <a:r>
              <a:rPr lang="en-US" dirty="0">
                <a:latin typeface="Times New Roman" panose="02020603050405020304" pitchFamily="18" charset="0"/>
                <a:cs typeface="Times New Roman" panose="02020603050405020304" pitchFamily="18" charset="0"/>
              </a:rPr>
              <a:t>       automation opportunities.</a:t>
            </a:r>
          </a:p>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C35F4EB-5220-0BB3-0DA4-5ECC457B2E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01044" y="956734"/>
            <a:ext cx="4560570" cy="5384799"/>
          </a:xfrm>
          <a:prstGeom prst="rect">
            <a:avLst/>
          </a:prstGeom>
        </p:spPr>
      </p:pic>
    </p:spTree>
    <p:extLst>
      <p:ext uri="{BB962C8B-B14F-4D97-AF65-F5344CB8AC3E}">
        <p14:creationId xmlns:p14="http://schemas.microsoft.com/office/powerpoint/2010/main" val="1619780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F37CA-3344-CEF3-8BD2-9791F456E953}"/>
              </a:ext>
            </a:extLst>
          </p:cNvPr>
          <p:cNvSpPr>
            <a:spLocks noGrp="1"/>
          </p:cNvSpPr>
          <p:nvPr>
            <p:ph type="title"/>
          </p:nvPr>
        </p:nvSpPr>
        <p:spPr>
          <a:xfrm flipV="1">
            <a:off x="8852351" y="4379965"/>
            <a:ext cx="1502637" cy="97596"/>
          </a:xfrm>
        </p:spPr>
        <p:txBody>
          <a:bodyPr>
            <a:normAutofit fontScale="90000"/>
          </a:bodyPr>
          <a:lstStyle/>
          <a:p>
            <a:pPr algn="ctr"/>
            <a:r>
              <a:rPr lang="en-IN" sz="3200" b="1" dirty="0">
                <a:latin typeface="Times New Roman" panose="02020603050405020304" pitchFamily="18" charset="0"/>
                <a:cs typeface="Times New Roman" panose="02020603050405020304" pitchFamily="18" charset="0"/>
              </a:rPr>
              <a:t> </a:t>
            </a:r>
          </a:p>
        </p:txBody>
      </p:sp>
      <p:graphicFrame>
        <p:nvGraphicFramePr>
          <p:cNvPr id="3" name="Chart 2">
            <a:extLst>
              <a:ext uri="{FF2B5EF4-FFF2-40B4-BE49-F238E27FC236}">
                <a16:creationId xmlns:a16="http://schemas.microsoft.com/office/drawing/2014/main" id="{7F40EE24-C75A-436A-A24D-2E566DD7BF1C}"/>
              </a:ext>
            </a:extLst>
          </p:cNvPr>
          <p:cNvGraphicFramePr>
            <a:graphicFrameLocks/>
          </p:cNvGraphicFramePr>
          <p:nvPr>
            <p:extLst>
              <p:ext uri="{D42A27DB-BD31-4B8C-83A1-F6EECF244321}">
                <p14:modId xmlns:p14="http://schemas.microsoft.com/office/powerpoint/2010/main" val="18409562"/>
              </p:ext>
            </p:extLst>
          </p:nvPr>
        </p:nvGraphicFramePr>
        <p:xfrm>
          <a:off x="696525" y="1271221"/>
          <a:ext cx="6054910" cy="3292557"/>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60B51C6B-BC9B-54E8-3BEC-6F8DE6682C37}"/>
              </a:ext>
            </a:extLst>
          </p:cNvPr>
          <p:cNvSpPr txBox="1"/>
          <p:nvPr/>
        </p:nvSpPr>
        <p:spPr>
          <a:xfrm>
            <a:off x="2295293" y="134152"/>
            <a:ext cx="7243762" cy="369332"/>
          </a:xfrm>
          <a:prstGeom prst="rect">
            <a:avLst/>
          </a:prstGeom>
          <a:noFill/>
        </p:spPr>
        <p:txBody>
          <a:bodyPr wrap="square">
            <a:spAutoFit/>
          </a:bodyPr>
          <a:lstStyle/>
          <a:p>
            <a:pPr algn="ctr"/>
            <a:r>
              <a:rPr lang="en-IN" b="1" u="sng" spc="50" dirty="0">
                <a:ln w="0">
                  <a:solidFill>
                    <a:srgbClr val="0070C0"/>
                  </a:solidFill>
                </a:ln>
                <a:solidFill>
                  <a:srgbClr val="0070C0"/>
                </a:solidFill>
                <a:effectLst>
                  <a:innerShdw blurRad="63500" dist="50800" dir="13500000">
                    <a:srgbClr val="000000">
                      <a:alpha val="50000"/>
                    </a:srgbClr>
                  </a:innerShdw>
                </a:effectLst>
              </a:rPr>
              <a:t>Volume</a:t>
            </a:r>
            <a:r>
              <a:rPr lang="en-IN" dirty="0"/>
              <a:t> </a:t>
            </a:r>
            <a:r>
              <a:rPr lang="en-IN" b="1" u="sng" spc="50" dirty="0">
                <a:ln w="0">
                  <a:solidFill>
                    <a:srgbClr val="0070C0"/>
                  </a:solidFill>
                </a:ln>
                <a:solidFill>
                  <a:srgbClr val="0070C0"/>
                </a:solidFill>
                <a:effectLst>
                  <a:innerShdw blurRad="63500" dist="50800" dir="13500000">
                    <a:srgbClr val="000000">
                      <a:alpha val="50000"/>
                    </a:srgbClr>
                  </a:innerShdw>
                </a:effectLst>
              </a:rPr>
              <a:t>&amp; Satisfaction Trends</a:t>
            </a:r>
          </a:p>
        </p:txBody>
      </p:sp>
      <p:sp>
        <p:nvSpPr>
          <p:cNvPr id="8" name="TextBox 7">
            <a:extLst>
              <a:ext uri="{FF2B5EF4-FFF2-40B4-BE49-F238E27FC236}">
                <a16:creationId xmlns:a16="http://schemas.microsoft.com/office/drawing/2014/main" id="{279748DA-11A0-45EF-8609-B9448EB0F892}"/>
              </a:ext>
            </a:extLst>
          </p:cNvPr>
          <p:cNvSpPr txBox="1"/>
          <p:nvPr/>
        </p:nvSpPr>
        <p:spPr>
          <a:xfrm>
            <a:off x="5992872" y="5947495"/>
            <a:ext cx="6416040" cy="4223657"/>
          </a:xfrm>
          <a:prstGeom prst="rect">
            <a:avLst/>
          </a:prstGeom>
          <a:noFill/>
        </p:spPr>
        <p:txBody>
          <a:bodyPr wrap="square" rtlCol="0">
            <a:spAutoFit/>
          </a:bodyPr>
          <a:lstStyle/>
          <a:p>
            <a:endParaRPr lang="en-IN" dirty="0"/>
          </a:p>
        </p:txBody>
      </p:sp>
      <p:sp>
        <p:nvSpPr>
          <p:cNvPr id="9" name="Rectangle 2">
            <a:extLst>
              <a:ext uri="{FF2B5EF4-FFF2-40B4-BE49-F238E27FC236}">
                <a16:creationId xmlns:a16="http://schemas.microsoft.com/office/drawing/2014/main" id="{1BF7CEA0-FEE9-E500-AD49-9C38CC1E0E40}"/>
              </a:ext>
            </a:extLst>
          </p:cNvPr>
          <p:cNvSpPr>
            <a:spLocks noChangeArrowheads="1"/>
          </p:cNvSpPr>
          <p:nvPr/>
        </p:nvSpPr>
        <p:spPr bwMode="auto">
          <a:xfrm>
            <a:off x="752604" y="524301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Ticket counts have </a:t>
            </a:r>
            <a:r>
              <a:rPr kumimoji="0" lang="en-US" altLang="en-US" sz="1800" b="1" i="0" u="none" strike="noStrike" cap="none" normalizeH="0" baseline="0" dirty="0">
                <a:ln>
                  <a:noFill/>
                </a:ln>
                <a:solidFill>
                  <a:schemeClr val="tx1"/>
                </a:solidFill>
                <a:effectLst/>
                <a:latin typeface="Arial" panose="020B0604020202020204" pitchFamily="34" charset="0"/>
              </a:rPr>
              <a:t>nearly doubled</a:t>
            </a:r>
            <a:r>
              <a:rPr kumimoji="0" lang="en-US" altLang="en-US" sz="1800" b="0" i="0" u="none" strike="noStrike" cap="none" normalizeH="0" baseline="0" dirty="0">
                <a:ln>
                  <a:noFill/>
                </a:ln>
                <a:solidFill>
                  <a:schemeClr val="tx1"/>
                </a:solidFill>
                <a:effectLst/>
                <a:latin typeface="Arial" panose="020B0604020202020204" pitchFamily="34" charset="0"/>
              </a:rPr>
              <a:t> from ~13K (2016) to ~29K (2020) over five years.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Growth has been </a:t>
            </a:r>
            <a:r>
              <a:rPr kumimoji="0" lang="en-US" altLang="en-US" sz="1800" b="1" i="0" u="none" strike="noStrike" cap="none" normalizeH="0" baseline="0" dirty="0">
                <a:ln>
                  <a:noFill/>
                </a:ln>
                <a:solidFill>
                  <a:schemeClr val="tx1"/>
                </a:solidFill>
                <a:effectLst/>
                <a:latin typeface="Arial" panose="020B0604020202020204" pitchFamily="34" charset="0"/>
              </a:rPr>
              <a:t>consistent every year</a:t>
            </a:r>
            <a:r>
              <a:rPr kumimoji="0" lang="en-US" altLang="en-US" sz="1800" b="0" i="0" u="none" strike="noStrike" cap="none" normalizeH="0" baseline="0" dirty="0">
                <a:ln>
                  <a:noFill/>
                </a:ln>
                <a:solidFill>
                  <a:schemeClr val="tx1"/>
                </a:solidFill>
                <a:effectLst/>
                <a:latin typeface="Arial" panose="020B0604020202020204" pitchFamily="34" charset="0"/>
              </a:rPr>
              <a:t> with no dips or plateaus.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steepest jump</a:t>
            </a:r>
            <a:r>
              <a:rPr kumimoji="0" lang="en-US" altLang="en-US" sz="1800" b="0" i="0" u="none" strike="noStrike" cap="none" normalizeH="0" baseline="0" dirty="0">
                <a:ln>
                  <a:noFill/>
                </a:ln>
                <a:solidFill>
                  <a:schemeClr val="tx1"/>
                </a:solidFill>
                <a:effectLst/>
                <a:latin typeface="Arial" panose="020B0604020202020204" pitchFamily="34" charset="0"/>
              </a:rPr>
              <a:t> occurred in 2019–2020, signaling accelerating demand. </a:t>
            </a:r>
          </a:p>
        </p:txBody>
      </p:sp>
    </p:spTree>
    <p:extLst>
      <p:ext uri="{BB962C8B-B14F-4D97-AF65-F5344CB8AC3E}">
        <p14:creationId xmlns:p14="http://schemas.microsoft.com/office/powerpoint/2010/main" val="3419444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802219F3-7E7F-5F35-6EF5-FAB9D8FCA710}"/>
              </a:ext>
            </a:extLst>
          </p:cNvPr>
          <p:cNvGraphicFramePr>
            <a:graphicFrameLocks/>
          </p:cNvGraphicFramePr>
          <p:nvPr>
            <p:extLst>
              <p:ext uri="{D42A27DB-BD31-4B8C-83A1-F6EECF244321}">
                <p14:modId xmlns:p14="http://schemas.microsoft.com/office/powerpoint/2010/main" val="3628572064"/>
              </p:ext>
            </p:extLst>
          </p:nvPr>
        </p:nvGraphicFramePr>
        <p:xfrm>
          <a:off x="982579" y="1097201"/>
          <a:ext cx="6238806" cy="370168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1">
            <a:extLst>
              <a:ext uri="{FF2B5EF4-FFF2-40B4-BE49-F238E27FC236}">
                <a16:creationId xmlns:a16="http://schemas.microsoft.com/office/drawing/2014/main" id="{5399CD1C-F611-BD1E-58F6-2275C2CDA333}"/>
              </a:ext>
            </a:extLst>
          </p:cNvPr>
          <p:cNvSpPr>
            <a:spLocks noGrp="1" noChangeArrowheads="1"/>
          </p:cNvSpPr>
          <p:nvPr>
            <p:ph type="title"/>
          </p:nvPr>
        </p:nvSpPr>
        <p:spPr bwMode="auto">
          <a:xfrm>
            <a:off x="583818" y="5098017"/>
            <a:ext cx="10515600" cy="132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Satisfaction rate has </a:t>
            </a:r>
            <a:r>
              <a:rPr kumimoji="0" lang="en-US" altLang="en-US" sz="1800" b="1" i="0" u="none" strike="noStrike" cap="none" normalizeH="0" baseline="0" dirty="0">
                <a:ln>
                  <a:noFill/>
                </a:ln>
                <a:solidFill>
                  <a:schemeClr val="tx1"/>
                </a:solidFill>
                <a:effectLst/>
                <a:latin typeface="Arial" panose="020B0604020202020204" pitchFamily="34" charset="0"/>
              </a:rPr>
              <a:t>more than doubled</a:t>
            </a:r>
            <a:r>
              <a:rPr kumimoji="0" lang="en-US" altLang="en-US" sz="1800" b="0" i="0" u="none" strike="noStrike" cap="none" normalizeH="0" baseline="0" dirty="0">
                <a:ln>
                  <a:noFill/>
                </a:ln>
                <a:solidFill>
                  <a:schemeClr val="tx1"/>
                </a:solidFill>
                <a:effectLst/>
                <a:latin typeface="Arial" panose="020B0604020202020204" pitchFamily="34" charset="0"/>
              </a:rPr>
              <a:t> from 51,939 (2016) to 121,043 (2020).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Growth remained </a:t>
            </a:r>
            <a:r>
              <a:rPr kumimoji="0" lang="en-US" altLang="en-US" sz="1800" b="1" i="0" u="none" strike="noStrike" cap="none" normalizeH="0" baseline="0" dirty="0">
                <a:ln>
                  <a:noFill/>
                </a:ln>
                <a:solidFill>
                  <a:schemeClr val="tx1"/>
                </a:solidFill>
                <a:effectLst/>
                <a:latin typeface="Arial" panose="020B0604020202020204" pitchFamily="34" charset="0"/>
              </a:rPr>
              <a:t>steady year-over-year</a:t>
            </a:r>
            <a:r>
              <a:rPr kumimoji="0" lang="en-US" altLang="en-US" sz="1800" b="0" i="0" u="none" strike="noStrike" cap="none" normalizeH="0" baseline="0" dirty="0">
                <a:ln>
                  <a:noFill/>
                </a:ln>
                <a:solidFill>
                  <a:schemeClr val="tx1"/>
                </a:solidFill>
                <a:effectLst/>
                <a:latin typeface="Arial" panose="020B0604020202020204" pitchFamily="34" charset="0"/>
              </a:rPr>
              <a:t> with no decline at any point.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sharpest surge</a:t>
            </a:r>
            <a:r>
              <a:rPr kumimoji="0" lang="en-US" altLang="en-US" sz="1800" b="0" i="0" u="none" strike="noStrike" cap="none" normalizeH="0" baseline="0" dirty="0">
                <a:ln>
                  <a:noFill/>
                </a:ln>
                <a:solidFill>
                  <a:schemeClr val="tx1"/>
                </a:solidFill>
                <a:effectLst/>
                <a:latin typeface="Arial" panose="020B0604020202020204" pitchFamily="34" charset="0"/>
              </a:rPr>
              <a:t> was in 2019–2020 (+32K), marking the biggest single-year leap. </a:t>
            </a:r>
          </a:p>
        </p:txBody>
      </p:sp>
    </p:spTree>
    <p:extLst>
      <p:ext uri="{BB962C8B-B14F-4D97-AF65-F5344CB8AC3E}">
        <p14:creationId xmlns:p14="http://schemas.microsoft.com/office/powerpoint/2010/main" val="1394176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E49D6AFF-5BC1-45FF-AB22-DFE19F39FD7E}"/>
              </a:ext>
            </a:extLst>
          </p:cNvPr>
          <p:cNvGraphicFramePr>
            <a:graphicFrameLocks/>
          </p:cNvGraphicFramePr>
          <p:nvPr>
            <p:extLst>
              <p:ext uri="{D42A27DB-BD31-4B8C-83A1-F6EECF244321}">
                <p14:modId xmlns:p14="http://schemas.microsoft.com/office/powerpoint/2010/main" val="2661130747"/>
              </p:ext>
            </p:extLst>
          </p:nvPr>
        </p:nvGraphicFramePr>
        <p:xfrm>
          <a:off x="621180" y="900649"/>
          <a:ext cx="7072155" cy="3856979"/>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1E92DC83-C6C0-AC54-D225-D019AB21F33F}"/>
              </a:ext>
            </a:extLst>
          </p:cNvPr>
          <p:cNvSpPr txBox="1"/>
          <p:nvPr/>
        </p:nvSpPr>
        <p:spPr>
          <a:xfrm>
            <a:off x="3049191" y="205789"/>
            <a:ext cx="6093618" cy="369332"/>
          </a:xfrm>
          <a:prstGeom prst="rect">
            <a:avLst/>
          </a:prstGeom>
          <a:noFill/>
        </p:spPr>
        <p:txBody>
          <a:bodyPr wrap="square">
            <a:spAutoFit/>
          </a:bodyPr>
          <a:lstStyle/>
          <a:p>
            <a:pPr algn="ctr"/>
            <a:r>
              <a:rPr lang="en-IN" b="1" u="sng" spc="50" dirty="0">
                <a:ln w="0">
                  <a:solidFill>
                    <a:srgbClr val="0070C0"/>
                  </a:solidFill>
                </a:ln>
                <a:solidFill>
                  <a:srgbClr val="0070C0"/>
                </a:solidFill>
                <a:effectLst>
                  <a:innerShdw blurRad="63500" dist="50800" dir="13500000">
                    <a:srgbClr val="000000">
                      <a:alpha val="50000"/>
                    </a:srgbClr>
                  </a:innerShdw>
                </a:effectLst>
              </a:rPr>
              <a:t>Severity &amp; Satisfaction Distribution</a:t>
            </a:r>
          </a:p>
        </p:txBody>
      </p:sp>
      <p:sp>
        <p:nvSpPr>
          <p:cNvPr id="7" name="Rectangle 1">
            <a:extLst>
              <a:ext uri="{FF2B5EF4-FFF2-40B4-BE49-F238E27FC236}">
                <a16:creationId xmlns:a16="http://schemas.microsoft.com/office/drawing/2014/main" id="{EC2565F1-FFA2-04D4-B39A-9183B0BBD849}"/>
              </a:ext>
            </a:extLst>
          </p:cNvPr>
          <p:cNvSpPr>
            <a:spLocks noGrp="1" noChangeArrowheads="1"/>
          </p:cNvSpPr>
          <p:nvPr>
            <p:ph type="title"/>
          </p:nvPr>
        </p:nvSpPr>
        <p:spPr bwMode="auto">
          <a:xfrm>
            <a:off x="693821" y="4847748"/>
            <a:ext cx="10515600" cy="132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Satisfaction is </a:t>
            </a:r>
            <a:r>
              <a:rPr kumimoji="0" lang="en-US" altLang="en-US" sz="1800" b="1" i="0" u="none" strike="noStrike" cap="none" normalizeH="0" baseline="0" dirty="0">
                <a:ln>
                  <a:noFill/>
                </a:ln>
                <a:solidFill>
                  <a:schemeClr val="tx1"/>
                </a:solidFill>
                <a:effectLst/>
                <a:latin typeface="Arial" panose="020B0604020202020204" pitchFamily="34" charset="0"/>
              </a:rPr>
              <a:t>uniformly high</a:t>
            </a:r>
            <a:r>
              <a:rPr kumimoji="0" lang="en-US" altLang="en-US" sz="1800" b="0" i="0" u="none" strike="noStrike" cap="none" normalizeH="0" baseline="0" dirty="0">
                <a:ln>
                  <a:noFill/>
                </a:ln>
                <a:solidFill>
                  <a:schemeClr val="tx1"/>
                </a:solidFill>
                <a:effectLst/>
                <a:latin typeface="Arial" panose="020B0604020202020204" pitchFamily="34" charset="0"/>
              </a:rPr>
              <a:t> across all age groups, ranging narrowly between 4.1–4.2.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50+ group is the most satisfied</a:t>
            </a:r>
            <a:r>
              <a:rPr kumimoji="0" lang="en-US" altLang="en-US" sz="1800" b="0" i="0" u="none" strike="noStrike" cap="none" normalizeH="0" baseline="0" dirty="0">
                <a:ln>
                  <a:noFill/>
                </a:ln>
                <a:solidFill>
                  <a:schemeClr val="tx1"/>
                </a:solidFill>
                <a:effectLst/>
                <a:latin typeface="Arial" panose="020B0604020202020204" pitchFamily="34" charset="0"/>
              </a:rPr>
              <a:t> with the highest score of 4.2.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All groups aged </a:t>
            </a:r>
            <a:r>
              <a:rPr kumimoji="0" lang="en-US" altLang="en-US" sz="1800" b="1" i="0" u="none" strike="noStrike" cap="none" normalizeH="0" baseline="0" dirty="0">
                <a:ln>
                  <a:noFill/>
                </a:ln>
                <a:solidFill>
                  <a:schemeClr val="tx1"/>
                </a:solidFill>
                <a:effectLst/>
                <a:latin typeface="Arial" panose="020B0604020202020204" pitchFamily="34" charset="0"/>
              </a:rPr>
              <a:t>20–49 score equally at 4.1</a:t>
            </a:r>
            <a:r>
              <a:rPr kumimoji="0" lang="en-US" altLang="en-US" sz="1800" b="0" i="0" u="none" strike="noStrike" cap="none" normalizeH="0" baseline="0" dirty="0">
                <a:ln>
                  <a:noFill/>
                </a:ln>
                <a:solidFill>
                  <a:schemeClr val="tx1"/>
                </a:solidFill>
                <a:effectLst/>
                <a:latin typeface="Arial" panose="020B0604020202020204" pitchFamily="34" charset="0"/>
              </a:rPr>
              <a:t>, showing no generational difference. </a:t>
            </a:r>
          </a:p>
        </p:txBody>
      </p:sp>
    </p:spTree>
    <p:extLst>
      <p:ext uri="{BB962C8B-B14F-4D97-AF65-F5344CB8AC3E}">
        <p14:creationId xmlns:p14="http://schemas.microsoft.com/office/powerpoint/2010/main" val="3193255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7A8ABA2A-A99D-4804-DD81-9D1AFF8377CB}"/>
              </a:ext>
            </a:extLst>
          </p:cNvPr>
          <p:cNvGraphicFramePr>
            <a:graphicFrameLocks/>
          </p:cNvGraphicFramePr>
          <p:nvPr>
            <p:extLst>
              <p:ext uri="{D42A27DB-BD31-4B8C-83A1-F6EECF244321}">
                <p14:modId xmlns:p14="http://schemas.microsoft.com/office/powerpoint/2010/main" val="1837043306"/>
              </p:ext>
            </p:extLst>
          </p:nvPr>
        </p:nvGraphicFramePr>
        <p:xfrm>
          <a:off x="913828" y="591266"/>
          <a:ext cx="5577180" cy="3740101"/>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1">
            <a:extLst>
              <a:ext uri="{FF2B5EF4-FFF2-40B4-BE49-F238E27FC236}">
                <a16:creationId xmlns:a16="http://schemas.microsoft.com/office/drawing/2014/main" id="{9BE8AA11-8D80-5E25-C1EC-A79284218DD0}"/>
              </a:ext>
            </a:extLst>
          </p:cNvPr>
          <p:cNvSpPr>
            <a:spLocks noGrp="1" noChangeArrowheads="1"/>
          </p:cNvSpPr>
          <p:nvPr>
            <p:ph type="title"/>
          </p:nvPr>
        </p:nvSpPr>
        <p:spPr bwMode="auto">
          <a:xfrm>
            <a:off x="913828" y="4723995"/>
            <a:ext cx="10515600" cy="132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High priority tickets lead</a:t>
            </a:r>
            <a:r>
              <a:rPr kumimoji="0" lang="en-US" altLang="en-US" sz="1800" b="0" i="0" u="none" strike="noStrike" cap="none" normalizeH="0" baseline="0">
                <a:ln>
                  <a:noFill/>
                </a:ln>
                <a:solidFill>
                  <a:schemeClr val="tx1"/>
                </a:solidFill>
                <a:effectLst/>
                <a:latin typeface="Arial" panose="020B0604020202020204" pitchFamily="34" charset="0"/>
              </a:rPr>
              <a:t> at 35,549, signaling heavy critical workload.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Unassigned tickets (29,410) are concerningly high</a:t>
            </a:r>
            <a:r>
              <a:rPr kumimoji="0" lang="en-US" altLang="en-US" sz="1800" b="0" i="0" u="none" strike="noStrike" cap="none" normalizeH="0" baseline="0">
                <a:ln>
                  <a:noFill/>
                </a:ln>
                <a:solidFill>
                  <a:schemeClr val="tx1"/>
                </a:solidFill>
                <a:effectLst/>
                <a:latin typeface="Arial" panose="020B0604020202020204" pitchFamily="34" charset="0"/>
              </a:rPr>
              <a:t>, indicating a triage gap.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Low and mid tickets are </a:t>
            </a:r>
            <a:r>
              <a:rPr kumimoji="0" lang="en-US" altLang="en-US" sz="1800" b="1" i="0" u="none" strike="noStrike" cap="none" normalizeH="0" baseline="0">
                <a:ln>
                  <a:noFill/>
                </a:ln>
                <a:solidFill>
                  <a:schemeClr val="tx1"/>
                </a:solidFill>
                <a:effectLst/>
                <a:latin typeface="Arial" panose="020B0604020202020204" pitchFamily="34" charset="0"/>
              </a:rPr>
              <a:t>balanced at ~16K each</a:t>
            </a:r>
            <a:r>
              <a:rPr kumimoji="0" lang="en-US" altLang="en-US" sz="1800" b="0" i="0" u="none" strike="noStrike" cap="none" normalizeH="0" baseline="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039982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37B229E6-6B0B-4FF6-B513-F8CE18A27F19}"/>
              </a:ext>
            </a:extLst>
          </p:cNvPr>
          <p:cNvGraphicFramePr>
            <a:graphicFrameLocks/>
          </p:cNvGraphicFramePr>
          <p:nvPr>
            <p:extLst>
              <p:ext uri="{D42A27DB-BD31-4B8C-83A1-F6EECF244321}">
                <p14:modId xmlns:p14="http://schemas.microsoft.com/office/powerpoint/2010/main" val="853115177"/>
              </p:ext>
            </p:extLst>
          </p:nvPr>
        </p:nvGraphicFramePr>
        <p:xfrm>
          <a:off x="803349" y="1120656"/>
          <a:ext cx="5095562" cy="3559629"/>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3480484E-1C15-64EA-3352-2616BF7E7976}"/>
              </a:ext>
            </a:extLst>
          </p:cNvPr>
          <p:cNvSpPr txBox="1"/>
          <p:nvPr/>
        </p:nvSpPr>
        <p:spPr>
          <a:xfrm>
            <a:off x="4257609" y="197648"/>
            <a:ext cx="6093618" cy="369332"/>
          </a:xfrm>
          <a:prstGeom prst="rect">
            <a:avLst/>
          </a:prstGeom>
          <a:noFill/>
        </p:spPr>
        <p:txBody>
          <a:bodyPr wrap="square">
            <a:spAutoFit/>
          </a:bodyPr>
          <a:lstStyle/>
          <a:p>
            <a:r>
              <a:rPr lang="en-IN" b="1" u="sng" spc="50" dirty="0">
                <a:ln w="0">
                  <a:solidFill>
                    <a:srgbClr val="0070C0"/>
                  </a:solidFill>
                </a:ln>
                <a:solidFill>
                  <a:srgbClr val="0070C0"/>
                </a:solidFill>
                <a:effectLst>
                  <a:innerShdw blurRad="63500" dist="50800" dir="13500000">
                    <a:srgbClr val="000000">
                      <a:alpha val="50000"/>
                    </a:srgbClr>
                  </a:innerShdw>
                </a:effectLst>
              </a:rPr>
              <a:t>Category &amp; Resolution Breakdown</a:t>
            </a:r>
            <a:endParaRPr lang="en-IN" dirty="0"/>
          </a:p>
        </p:txBody>
      </p:sp>
      <p:sp>
        <p:nvSpPr>
          <p:cNvPr id="10" name="Rectangle 1">
            <a:extLst>
              <a:ext uri="{FF2B5EF4-FFF2-40B4-BE49-F238E27FC236}">
                <a16:creationId xmlns:a16="http://schemas.microsoft.com/office/drawing/2014/main" id="{C6B6EEC0-6ADA-7BDA-1297-9C6A6B9E4A96}"/>
              </a:ext>
            </a:extLst>
          </p:cNvPr>
          <p:cNvSpPr>
            <a:spLocks noGrp="1" noChangeArrowheads="1"/>
          </p:cNvSpPr>
          <p:nvPr>
            <p:ph type="title"/>
          </p:nvPr>
        </p:nvSpPr>
        <p:spPr bwMode="auto">
          <a:xfrm>
            <a:off x="453190" y="4820247"/>
            <a:ext cx="10515600" cy="132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Hardware is slowest</a:t>
            </a:r>
            <a:r>
              <a:rPr kumimoji="0" lang="en-US" altLang="en-US" sz="1800" b="0" i="0" u="none" strike="noStrike" cap="none" normalizeH="0" baseline="0" dirty="0">
                <a:ln>
                  <a:noFill/>
                </a:ln>
                <a:solidFill>
                  <a:schemeClr val="tx1"/>
                </a:solidFill>
                <a:effectLst/>
                <a:latin typeface="Arial" panose="020B0604020202020204" pitchFamily="34" charset="0"/>
              </a:rPr>
              <a:t> to resolve (~30 days) across all quarters.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Login Access resolves almost instantly</a:t>
            </a:r>
            <a:r>
              <a:rPr kumimoji="0" lang="en-US" altLang="en-US" sz="1800" b="0" i="0" u="none" strike="noStrike" cap="none" normalizeH="0" baseline="0" dirty="0">
                <a:ln>
                  <a:noFill/>
                </a:ln>
                <a:solidFill>
                  <a:schemeClr val="tx1"/>
                </a:solidFill>
                <a:effectLst/>
                <a:latin typeface="Arial" panose="020B0604020202020204" pitchFamily="34" charset="0"/>
              </a:rPr>
              <a:t> — under 1 day.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System and Software are mid-range</a:t>
            </a:r>
            <a:r>
              <a:rPr kumimoji="0" lang="en-US" altLang="en-US" sz="1800" b="0" i="0" u="none" strike="noStrike" cap="none" normalizeH="0" baseline="0" dirty="0">
                <a:ln>
                  <a:noFill/>
                </a:ln>
                <a:solidFill>
                  <a:schemeClr val="tx1"/>
                </a:solidFill>
                <a:effectLst/>
                <a:latin typeface="Arial" panose="020B0604020202020204" pitchFamily="34" charset="0"/>
              </a:rPr>
              <a:t> at ~26 and ~21 days respectively. </a:t>
            </a:r>
          </a:p>
        </p:txBody>
      </p:sp>
    </p:spTree>
    <p:extLst>
      <p:ext uri="{BB962C8B-B14F-4D97-AF65-F5344CB8AC3E}">
        <p14:creationId xmlns:p14="http://schemas.microsoft.com/office/powerpoint/2010/main" val="3992946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5C68CFC9-465B-4BC7-B69E-514EA2452AD1}"/>
              </a:ext>
            </a:extLst>
          </p:cNvPr>
          <p:cNvGraphicFramePr>
            <a:graphicFrameLocks/>
          </p:cNvGraphicFramePr>
          <p:nvPr>
            <p:extLst>
              <p:ext uri="{D42A27DB-BD31-4B8C-83A1-F6EECF244321}">
                <p14:modId xmlns:p14="http://schemas.microsoft.com/office/powerpoint/2010/main" val="2505781459"/>
              </p:ext>
            </p:extLst>
          </p:nvPr>
        </p:nvGraphicFramePr>
        <p:xfrm>
          <a:off x="680071" y="680644"/>
          <a:ext cx="6252036" cy="4159487"/>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1">
            <a:extLst>
              <a:ext uri="{FF2B5EF4-FFF2-40B4-BE49-F238E27FC236}">
                <a16:creationId xmlns:a16="http://schemas.microsoft.com/office/drawing/2014/main" id="{E4D99DB5-EE17-78DD-E490-DDC1B0589D9F}"/>
              </a:ext>
            </a:extLst>
          </p:cNvPr>
          <p:cNvSpPr>
            <a:spLocks noGrp="1" noChangeArrowheads="1"/>
          </p:cNvSpPr>
          <p:nvPr>
            <p:ph type="title"/>
          </p:nvPr>
        </p:nvSpPr>
        <p:spPr bwMode="auto">
          <a:xfrm>
            <a:off x="680071" y="5181803"/>
            <a:ext cx="10515600" cy="132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System tickets dominate</a:t>
            </a:r>
            <a:r>
              <a:rPr kumimoji="0" lang="en-US" altLang="en-US" sz="1800" b="0" i="0" u="none" strike="noStrike" cap="none" normalizeH="0" baseline="0">
                <a:ln>
                  <a:noFill/>
                </a:ln>
                <a:solidFill>
                  <a:schemeClr val="tx1"/>
                </a:solidFill>
                <a:effectLst/>
                <a:latin typeface="Arial" panose="020B0604020202020204" pitchFamily="34" charset="0"/>
              </a:rPr>
              <a:t> at 39,002 — nearly 40% of all requests.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Login Access (29,193) is the second highest</a:t>
            </a:r>
            <a:r>
              <a:rPr kumimoji="0" lang="en-US" altLang="en-US" sz="1800" b="0" i="0" u="none" strike="noStrike" cap="none" normalizeH="0" baseline="0">
                <a:ln>
                  <a:noFill/>
                </a:ln>
                <a:solidFill>
                  <a:schemeClr val="tx1"/>
                </a:solidFill>
                <a:effectLst/>
                <a:latin typeface="Arial" panose="020B0604020202020204" pitchFamily="34" charset="0"/>
              </a:rPr>
              <a:t>, indicating frequent access-related issues.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Hardware (9,733) is the least frequent</a:t>
            </a:r>
            <a:r>
              <a:rPr kumimoji="0" lang="en-US" altLang="en-US" sz="1800" b="0" i="0" u="none" strike="noStrike" cap="none" normalizeH="0" baseline="0">
                <a:ln>
                  <a:noFill/>
                </a:ln>
                <a:solidFill>
                  <a:schemeClr val="tx1"/>
                </a:solidFill>
                <a:effectLst/>
                <a:latin typeface="Arial" panose="020B0604020202020204" pitchFamily="34" charset="0"/>
              </a:rPr>
              <a:t>, despite being the slowest to resolve. </a:t>
            </a:r>
          </a:p>
        </p:txBody>
      </p:sp>
    </p:spTree>
    <p:extLst>
      <p:ext uri="{BB962C8B-B14F-4D97-AF65-F5344CB8AC3E}">
        <p14:creationId xmlns:p14="http://schemas.microsoft.com/office/powerpoint/2010/main" val="515623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8CDCB83A-4A81-281D-7579-7811E3E449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D92B4-5864-C58E-C7E8-3DFC74A31BD1}"/>
              </a:ext>
            </a:extLst>
          </p:cNvPr>
          <p:cNvSpPr>
            <a:spLocks noGrp="1"/>
          </p:cNvSpPr>
          <p:nvPr>
            <p:ph type="title"/>
          </p:nvPr>
        </p:nvSpPr>
        <p:spPr>
          <a:xfrm flipH="1">
            <a:off x="2874432" y="372533"/>
            <a:ext cx="6443135" cy="643467"/>
          </a:xfrm>
        </p:spPr>
        <p:txBody>
          <a:bodyPr>
            <a:normAutofit/>
          </a:bodyPr>
          <a:lstStyle/>
          <a:p>
            <a:r>
              <a:rPr lang="en-US" sz="2000" b="1" u="sng" spc="50" dirty="0">
                <a:ln w="0">
                  <a:solidFill>
                    <a:srgbClr val="0070C0"/>
                  </a:solidFill>
                </a:ln>
                <a:solidFill>
                  <a:srgbClr val="0070C0"/>
                </a:solidFill>
                <a:effectLst>
                  <a:innerShdw blurRad="63500" dist="50800" dir="13500000">
                    <a:srgbClr val="000000">
                      <a:alpha val="50000"/>
                    </a:srgbClr>
                  </a:innerShdw>
                </a:effectLst>
                <a:latin typeface="+mn-lt"/>
                <a:ea typeface="+mn-ea"/>
                <a:cs typeface="+mn-cs"/>
              </a:rPr>
              <a:t>Resolution Time Analysis and Operational Bottlenecks</a:t>
            </a:r>
            <a:endParaRPr lang="en-US" sz="3200" dirty="0"/>
          </a:p>
        </p:txBody>
      </p:sp>
      <p:pic>
        <p:nvPicPr>
          <p:cNvPr id="5" name="Picture 4">
            <a:extLst>
              <a:ext uri="{FF2B5EF4-FFF2-40B4-BE49-F238E27FC236}">
                <a16:creationId xmlns:a16="http://schemas.microsoft.com/office/drawing/2014/main" id="{440EC04E-D91B-3629-2FD0-04F446AD53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4883" y="1333707"/>
            <a:ext cx="4732867" cy="3262657"/>
          </a:xfrm>
          <a:prstGeom prst="rect">
            <a:avLst/>
          </a:prstGeom>
        </p:spPr>
      </p:pic>
      <p:sp>
        <p:nvSpPr>
          <p:cNvPr id="4" name="Rectangle 1">
            <a:extLst>
              <a:ext uri="{FF2B5EF4-FFF2-40B4-BE49-F238E27FC236}">
                <a16:creationId xmlns:a16="http://schemas.microsoft.com/office/drawing/2014/main" id="{C8927536-AF6B-0D8D-3512-9ACB3FAD21E0}"/>
              </a:ext>
            </a:extLst>
          </p:cNvPr>
          <p:cNvSpPr>
            <a:spLocks noChangeArrowheads="1"/>
          </p:cNvSpPr>
          <p:nvPr/>
        </p:nvSpPr>
        <p:spPr bwMode="auto">
          <a:xfrm>
            <a:off x="529390" y="5582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Hardware and System</a:t>
            </a:r>
            <a:r>
              <a:rPr kumimoji="0" lang="en-US" altLang="en-US" sz="1800" b="0" i="0" u="none" strike="noStrike" cap="none" normalizeH="0" baseline="0" dirty="0">
                <a:ln>
                  <a:noFill/>
                </a:ln>
                <a:solidFill>
                  <a:schemeClr val="tx1"/>
                </a:solidFill>
                <a:effectLst/>
                <a:latin typeface="Arial" panose="020B0604020202020204" pitchFamily="34" charset="0"/>
              </a:rPr>
              <a:t> consume the most resolution time equally.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Software adds ~25%</a:t>
            </a:r>
            <a:r>
              <a:rPr kumimoji="0" lang="en-US" altLang="en-US" sz="1800" b="0" i="0" u="none" strike="noStrike" cap="none" normalizeH="0" baseline="0" dirty="0">
                <a:ln>
                  <a:noFill/>
                </a:ln>
                <a:solidFill>
                  <a:schemeClr val="tx1"/>
                </a:solidFill>
                <a:effectLst/>
                <a:latin typeface="Arial" panose="020B0604020202020204" pitchFamily="34" charset="0"/>
              </a:rPr>
              <a:t> to the overall resolution burden.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Login Access is negligible</a:t>
            </a:r>
            <a:r>
              <a:rPr kumimoji="0" lang="en-US" altLang="en-US" sz="1800" b="0" i="0" u="none" strike="noStrike" cap="none" normalizeH="0" baseline="0" dirty="0">
                <a:ln>
                  <a:noFill/>
                </a:ln>
                <a:solidFill>
                  <a:schemeClr val="tx1"/>
                </a:solidFill>
                <a:effectLst/>
                <a:latin typeface="Arial" panose="020B0604020202020204" pitchFamily="34" charset="0"/>
              </a:rPr>
              <a:t> — barely visible in the chart. </a:t>
            </a:r>
          </a:p>
        </p:txBody>
      </p:sp>
    </p:spTree>
    <p:extLst>
      <p:ext uri="{BB962C8B-B14F-4D97-AF65-F5344CB8AC3E}">
        <p14:creationId xmlns:p14="http://schemas.microsoft.com/office/powerpoint/2010/main" val="448308720"/>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04DE7-DBAD-649C-58E8-468C31198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66E7B-D240-8CCB-CF50-28FA7ACA7D1F}"/>
              </a:ext>
            </a:extLst>
          </p:cNvPr>
          <p:cNvSpPr>
            <a:spLocks noGrp="1"/>
          </p:cNvSpPr>
          <p:nvPr>
            <p:ph type="title"/>
          </p:nvPr>
        </p:nvSpPr>
        <p:spPr>
          <a:xfrm>
            <a:off x="838200" y="347196"/>
            <a:ext cx="10515600" cy="1325563"/>
          </a:xfrm>
        </p:spPr>
        <p:txBody>
          <a:bodyPr>
            <a:normAutofit/>
          </a:bodyPr>
          <a:lstStyle/>
          <a:p>
            <a:pPr algn="ctr"/>
            <a:r>
              <a:rPr lang="en-US" sz="2000" b="1" u="sng" spc="50" dirty="0">
                <a:ln w="0">
                  <a:solidFill>
                    <a:srgbClr val="0070C0"/>
                  </a:solidFill>
                </a:ln>
                <a:solidFill>
                  <a:srgbClr val="0070C0"/>
                </a:solidFill>
                <a:effectLst>
                  <a:innerShdw blurRad="63500" dist="50800" dir="13500000">
                    <a:srgbClr val="000000">
                      <a:alpha val="50000"/>
                    </a:srgbClr>
                  </a:innerShdw>
                </a:effectLst>
                <a:latin typeface="+mn-lt"/>
                <a:ea typeface="+mn-ea"/>
                <a:cs typeface="+mn-cs"/>
              </a:rPr>
              <a:t>IT Ticket Volume Trends and Category Distribution Analysis</a:t>
            </a:r>
            <a:br>
              <a:rPr lang="en-US" sz="3200" dirty="0"/>
            </a:br>
            <a:endParaRPr lang="en-IN"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D3B85FD-EF1E-1FAF-B6D1-715E41C380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9" y="1479652"/>
            <a:ext cx="5961361" cy="3390470"/>
          </a:xfrm>
          <a:prstGeom prst="rect">
            <a:avLst/>
          </a:prstGeom>
        </p:spPr>
      </p:pic>
      <p:sp>
        <p:nvSpPr>
          <p:cNvPr id="3" name="Rectangle 1">
            <a:extLst>
              <a:ext uri="{FF2B5EF4-FFF2-40B4-BE49-F238E27FC236}">
                <a16:creationId xmlns:a16="http://schemas.microsoft.com/office/drawing/2014/main" id="{7E04BF51-FDEA-7187-3DE4-BE66B920E5A9}"/>
              </a:ext>
            </a:extLst>
          </p:cNvPr>
          <p:cNvSpPr>
            <a:spLocks noChangeArrowheads="1"/>
          </p:cNvSpPr>
          <p:nvPr/>
        </p:nvSpPr>
        <p:spPr bwMode="auto">
          <a:xfrm>
            <a:off x="653142" y="565828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System leads</a:t>
            </a:r>
            <a:r>
              <a:rPr kumimoji="0" lang="en-US" altLang="en-US" sz="1800" b="0" i="0" u="none" strike="noStrike" cap="none" normalizeH="0" baseline="0" dirty="0">
                <a:ln>
                  <a:noFill/>
                </a:ln>
                <a:solidFill>
                  <a:schemeClr val="tx1"/>
                </a:solidFill>
                <a:effectLst/>
                <a:latin typeface="Arial" panose="020B0604020202020204" pitchFamily="34" charset="0"/>
              </a:rPr>
              <a:t> with ~39K tickets — the highest volume category.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Login Access is second</a:t>
            </a:r>
            <a:r>
              <a:rPr kumimoji="0" lang="en-US" altLang="en-US" sz="1800" b="0" i="0" u="none" strike="noStrike" cap="none" normalizeH="0" baseline="0" dirty="0">
                <a:ln>
                  <a:noFill/>
                </a:ln>
                <a:solidFill>
                  <a:schemeClr val="tx1"/>
                </a:solidFill>
                <a:effectLst/>
                <a:latin typeface="Arial" panose="020B0604020202020204" pitchFamily="34" charset="0"/>
              </a:rPr>
              <a:t> at ~29K, reflecting frequent access-related demands.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Hardware has the fewest</a:t>
            </a:r>
            <a:r>
              <a:rPr kumimoji="0" lang="en-US" altLang="en-US" sz="1800" b="0" i="0" u="none" strike="noStrike" cap="none" normalizeH="0" baseline="0" dirty="0">
                <a:ln>
                  <a:noFill/>
                </a:ln>
                <a:solidFill>
                  <a:schemeClr val="tx1"/>
                </a:solidFill>
                <a:effectLst/>
                <a:latin typeface="Arial" panose="020B0604020202020204" pitchFamily="34" charset="0"/>
              </a:rPr>
              <a:t> tickets (~9K) despite its longest resolution time. </a:t>
            </a:r>
          </a:p>
        </p:txBody>
      </p:sp>
    </p:spTree>
    <p:extLst>
      <p:ext uri="{BB962C8B-B14F-4D97-AF65-F5344CB8AC3E}">
        <p14:creationId xmlns:p14="http://schemas.microsoft.com/office/powerpoint/2010/main" val="296387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2E9CF-CC00-DBE5-7528-E66BA1F672CE}"/>
              </a:ext>
            </a:extLst>
          </p:cNvPr>
          <p:cNvSpPr>
            <a:spLocks noGrp="1"/>
          </p:cNvSpPr>
          <p:nvPr>
            <p:ph type="title"/>
          </p:nvPr>
        </p:nvSpPr>
        <p:spPr>
          <a:xfrm>
            <a:off x="838200" y="0"/>
            <a:ext cx="10515600" cy="1325563"/>
          </a:xfrm>
        </p:spPr>
        <p:txBody>
          <a:bodyPr>
            <a:normAutofit/>
          </a:bodyPr>
          <a:lstStyle/>
          <a:p>
            <a:pPr algn="ctr"/>
            <a:r>
              <a:rPr lang="en-IN" sz="3200" b="1" dirty="0">
                <a:latin typeface="Times New Roman" panose="02020603050405020304" pitchFamily="18" charset="0"/>
                <a:cs typeface="Times New Roman" panose="02020603050405020304" pitchFamily="18" charset="0"/>
              </a:rPr>
              <a:t>Strategic Recommendations</a:t>
            </a:r>
          </a:p>
        </p:txBody>
      </p:sp>
      <p:sp>
        <p:nvSpPr>
          <p:cNvPr id="4" name="TextBox 3">
            <a:extLst>
              <a:ext uri="{FF2B5EF4-FFF2-40B4-BE49-F238E27FC236}">
                <a16:creationId xmlns:a16="http://schemas.microsoft.com/office/drawing/2014/main" id="{42DB228F-60C9-2253-3197-A5905B422E0B}"/>
              </a:ext>
            </a:extLst>
          </p:cNvPr>
          <p:cNvSpPr txBox="1"/>
          <p:nvPr/>
        </p:nvSpPr>
        <p:spPr>
          <a:xfrm>
            <a:off x="516466" y="1207030"/>
            <a:ext cx="5782734" cy="5078313"/>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Cross-Generational Mentorship: Launch a formal pairing system where agents in the 40+ bracket mentor those in the 20–39 bracket on complex technical workflows. The goal is to reduce the 4.57-day resolution average among junior staff through direct knowledge sharing.</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After the mentoring period, closely monitor their resolution times and satisfaction scores. If performance improves, the strategy can be reinforced; if not, additional one-on-one coaching may be required.</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addition, implement a mandatory, targeted training program for these specific agents, focusing on advanced troubleshooting techniques and customer communication skills. This directly addresses the identified weaknesses in efficiency and service quality, ensuring that resources are used in a focused and impactful manner.</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8D1D8BE-9B82-DF6A-6BE1-6B995A0B2E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1867" y="1938488"/>
            <a:ext cx="4690533" cy="2442633"/>
          </a:xfrm>
          <a:prstGeom prst="rect">
            <a:avLst/>
          </a:prstGeom>
        </p:spPr>
      </p:pic>
    </p:spTree>
    <p:extLst>
      <p:ext uri="{BB962C8B-B14F-4D97-AF65-F5344CB8AC3E}">
        <p14:creationId xmlns:p14="http://schemas.microsoft.com/office/powerpoint/2010/main" val="4021497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F850B-BBB5-A95A-6B6B-AD9B560DBC09}"/>
              </a:ext>
            </a:extLst>
          </p:cNvPr>
          <p:cNvSpPr>
            <a:spLocks noGrp="1"/>
          </p:cNvSpPr>
          <p:nvPr>
            <p:ph type="title"/>
          </p:nvPr>
        </p:nvSpPr>
        <p:spPr>
          <a:xfrm>
            <a:off x="838200" y="0"/>
            <a:ext cx="10515600" cy="1325563"/>
          </a:xfrm>
        </p:spPr>
        <p:txBody>
          <a:bodyPr>
            <a:normAutofit/>
          </a:bodyPr>
          <a:lstStyle/>
          <a:p>
            <a:pPr algn="ctr"/>
            <a:r>
              <a:rPr lang="en-IN" sz="3200" b="1" dirty="0">
                <a:latin typeface="Times New Roman" panose="02020603050405020304" pitchFamily="18" charset="0"/>
                <a:cs typeface="Times New Roman" panose="02020603050405020304" pitchFamily="18" charset="0"/>
              </a:rPr>
              <a:t>Dashboards &amp; Visualisations</a:t>
            </a:r>
          </a:p>
        </p:txBody>
      </p:sp>
      <p:pic>
        <p:nvPicPr>
          <p:cNvPr id="4" name="Picture 3">
            <a:extLst>
              <a:ext uri="{FF2B5EF4-FFF2-40B4-BE49-F238E27FC236}">
                <a16:creationId xmlns:a16="http://schemas.microsoft.com/office/drawing/2014/main" id="{88AA15C8-4BDC-F7F9-C98F-835407924A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177290"/>
            <a:ext cx="10515600" cy="5040916"/>
          </a:xfrm>
          <a:prstGeom prst="rect">
            <a:avLst/>
          </a:prstGeom>
        </p:spPr>
      </p:pic>
    </p:spTree>
    <p:extLst>
      <p:ext uri="{BB962C8B-B14F-4D97-AF65-F5344CB8AC3E}">
        <p14:creationId xmlns:p14="http://schemas.microsoft.com/office/powerpoint/2010/main" val="4288290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0FD26-23EE-44C8-C227-828D80D8EB84}"/>
              </a:ext>
            </a:extLst>
          </p:cNvPr>
          <p:cNvSpPr>
            <a:spLocks noGrp="1"/>
          </p:cNvSpPr>
          <p:nvPr>
            <p:ph type="title"/>
          </p:nvPr>
        </p:nvSpPr>
        <p:spPr>
          <a:xfrm>
            <a:off x="838200" y="0"/>
            <a:ext cx="10515600" cy="1325563"/>
          </a:xfrm>
        </p:spPr>
        <p:txBody>
          <a:bodyPr>
            <a:normAutofit/>
          </a:bodyPr>
          <a:lstStyle/>
          <a:p>
            <a:pPr algn="ctr"/>
            <a:r>
              <a:rPr lang="en-IN" sz="3200" b="1" dirty="0">
                <a:latin typeface="Times New Roman" panose="02020603050405020304" pitchFamily="18" charset="0"/>
                <a:cs typeface="Times New Roman" panose="02020603050405020304" pitchFamily="18" charset="0"/>
              </a:rPr>
              <a:t>Summary Of Key Finding</a:t>
            </a:r>
          </a:p>
        </p:txBody>
      </p:sp>
      <p:pic>
        <p:nvPicPr>
          <p:cNvPr id="3" name="Picture 2">
            <a:extLst>
              <a:ext uri="{FF2B5EF4-FFF2-40B4-BE49-F238E27FC236}">
                <a16:creationId xmlns:a16="http://schemas.microsoft.com/office/drawing/2014/main" id="{0A6439BD-84E7-47F7-1A06-3697B02B9F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423" y="1690688"/>
            <a:ext cx="2629267" cy="3896269"/>
          </a:xfrm>
          <a:prstGeom prst="rect">
            <a:avLst/>
          </a:prstGeom>
        </p:spPr>
      </p:pic>
      <p:pic>
        <p:nvPicPr>
          <p:cNvPr id="4" name="Picture 3">
            <a:extLst>
              <a:ext uri="{FF2B5EF4-FFF2-40B4-BE49-F238E27FC236}">
                <a16:creationId xmlns:a16="http://schemas.microsoft.com/office/drawing/2014/main" id="{6437F8B4-787C-EE91-CC40-522C3D07DB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4957" y="1768732"/>
            <a:ext cx="2610214" cy="3905795"/>
          </a:xfrm>
          <a:prstGeom prst="rect">
            <a:avLst/>
          </a:prstGeom>
        </p:spPr>
      </p:pic>
      <p:pic>
        <p:nvPicPr>
          <p:cNvPr id="5" name="Picture 4">
            <a:extLst>
              <a:ext uri="{FF2B5EF4-FFF2-40B4-BE49-F238E27FC236}">
                <a16:creationId xmlns:a16="http://schemas.microsoft.com/office/drawing/2014/main" id="{2CDD79CE-FDB5-CDC9-3E54-CA07D28287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4712" y="1833954"/>
            <a:ext cx="2600688" cy="3924848"/>
          </a:xfrm>
          <a:prstGeom prst="rect">
            <a:avLst/>
          </a:prstGeom>
        </p:spPr>
      </p:pic>
      <p:pic>
        <p:nvPicPr>
          <p:cNvPr id="6" name="Picture 5">
            <a:extLst>
              <a:ext uri="{FF2B5EF4-FFF2-40B4-BE49-F238E27FC236}">
                <a16:creationId xmlns:a16="http://schemas.microsoft.com/office/drawing/2014/main" id="{C2DEF78A-EBA5-0513-5B1A-6805543E9A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34941" y="1787785"/>
            <a:ext cx="2581635" cy="3886742"/>
          </a:xfrm>
          <a:prstGeom prst="rect">
            <a:avLst/>
          </a:prstGeom>
        </p:spPr>
      </p:pic>
    </p:spTree>
    <p:extLst>
      <p:ext uri="{BB962C8B-B14F-4D97-AF65-F5344CB8AC3E}">
        <p14:creationId xmlns:p14="http://schemas.microsoft.com/office/powerpoint/2010/main" val="2723877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69B16-77EC-2EF5-09BA-91B2DD1CA7FB}"/>
              </a:ext>
            </a:extLst>
          </p:cNvPr>
          <p:cNvSpPr>
            <a:spLocks noGrp="1"/>
          </p:cNvSpPr>
          <p:nvPr>
            <p:ph type="title"/>
          </p:nvPr>
        </p:nvSpPr>
        <p:spPr>
          <a:xfrm>
            <a:off x="838200" y="119592"/>
            <a:ext cx="10515600" cy="1325563"/>
          </a:xfrm>
        </p:spPr>
        <p:txBody>
          <a:bodyPr>
            <a:normAutofit/>
          </a:bodyPr>
          <a:lstStyle/>
          <a:p>
            <a:pPr algn="ctr"/>
            <a:r>
              <a:rPr lang="en-IN" sz="3200" b="1" dirty="0">
                <a:latin typeface="Times New Roman" panose="02020603050405020304" pitchFamily="18" charset="0"/>
                <a:cs typeface="Times New Roman" panose="02020603050405020304" pitchFamily="18" charset="0"/>
              </a:rPr>
              <a:t>Conclusions</a:t>
            </a:r>
          </a:p>
        </p:txBody>
      </p:sp>
      <p:sp>
        <p:nvSpPr>
          <p:cNvPr id="3" name="TextBox 2">
            <a:extLst>
              <a:ext uri="{FF2B5EF4-FFF2-40B4-BE49-F238E27FC236}">
                <a16:creationId xmlns:a16="http://schemas.microsoft.com/office/drawing/2014/main" id="{D86617CB-D06C-4E2C-20E0-09F8F6968C8B}"/>
              </a:ext>
            </a:extLst>
          </p:cNvPr>
          <p:cNvSpPr txBox="1"/>
          <p:nvPr/>
        </p:nvSpPr>
        <p:spPr>
          <a:xfrm>
            <a:off x="838200" y="1157288"/>
            <a:ext cx="10447867" cy="4801314"/>
          </a:xfrm>
          <a:prstGeom prst="rect">
            <a:avLst/>
          </a:prstGeom>
          <a:noFill/>
        </p:spPr>
        <p:txBody>
          <a:bodyPr wrap="square" rtlCol="0">
            <a:spAutoFit/>
          </a:bodyPr>
          <a:lstStyle/>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IT support team is effectively coping with a steadily increasing workload. Although ticket volumes have nearly tripled over the past five years, the team continues to close a strong percentage of requests quickly and has maintained a gradual rise in satisfaction ratings year after year.</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Service quality remains generally strong, but some inconsistencies are evident. While many users award the highest rating (5 out of 5), a considerable share of tickets receive ratings as low as 2 or below. This variation suggests a need to streamline processes and deliver a more consistent support experience across all cases.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Certain ticket categories are slowing down overall performance. Specifically, "Hardware-related issues" and “Login Access requests” take approximately 7–9 days on average to resolve, compared to faster resolution times in other areas. These segments clearly require focused process improvements to enhance efficiency.</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User satisfaction also varies across age groups and issue categories. Employees aged "22–30" and those above "55" report the highest satisfaction levels, while individuals in the "30–45" age range show comparatively lower ratings. This indicates that support approaches may need to be better customized to meet the expectations of this key working-age group.</a:t>
            </a:r>
          </a:p>
        </p:txBody>
      </p:sp>
    </p:spTree>
    <p:extLst>
      <p:ext uri="{BB962C8B-B14F-4D97-AF65-F5344CB8AC3E}">
        <p14:creationId xmlns:p14="http://schemas.microsoft.com/office/powerpoint/2010/main" val="1191476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1126</TotalTime>
  <Words>1322</Words>
  <Application>Microsoft Office PowerPoint</Application>
  <PresentationFormat>Widescreen</PresentationFormat>
  <Paragraphs>109</Paragraphs>
  <Slides>17</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Times New Roman</vt:lpstr>
      <vt:lpstr>Wingdings</vt:lpstr>
      <vt:lpstr>Office Theme</vt:lpstr>
      <vt:lpstr>  IT TICKET ANALYSIS</vt:lpstr>
      <vt:lpstr>Introduction</vt:lpstr>
      <vt:lpstr>Objectives</vt:lpstr>
      <vt:lpstr>Data Overview</vt:lpstr>
      <vt:lpstr>Methodology</vt:lpstr>
      <vt:lpstr> </vt:lpstr>
      <vt:lpstr> Satisfaction rate has more than doubled from 51,939 (2016) to 121,043 (2020).  Growth remained steady year-over-year with no decline at any point.  The sharpest surge was in 2019–2020 (+32K), marking the biggest single-year leap. </vt:lpstr>
      <vt:lpstr> Satisfaction is uniformly high across all age groups, ranging narrowly between 4.1–4.2.  The 50+ group is the most satisfied with the highest score of 4.2.  All groups aged 20–49 score equally at 4.1, showing no generational difference. </vt:lpstr>
      <vt:lpstr>High priority tickets lead at 35,549, signaling heavy critical workload.  Unassigned tickets (29,410) are concerningly high, indicating a triage gap.  Low and mid tickets are balanced at ~16K each. </vt:lpstr>
      <vt:lpstr>Hardware is slowest to resolve (~30 days) across all quarters.  Login Access resolves almost instantly — under 1 day.  System and Software are mid-range at ~26 and ~21 days respectively. </vt:lpstr>
      <vt:lpstr>System tickets dominate at 39,002 — nearly 40% of all requests.  Login Access (29,193) is the second highest, indicating frequent access-related issues.  Hardware (9,733) is the least frequent, despite being the slowest to resolve. </vt:lpstr>
      <vt:lpstr>Resolution Time Analysis and Operational Bottlenecks</vt:lpstr>
      <vt:lpstr>IT Ticket Volume Trends and Category Distribution Analysis </vt:lpstr>
      <vt:lpstr>Strategic Recommendations</vt:lpstr>
      <vt:lpstr>Dashboards &amp; Visualisations</vt:lpstr>
      <vt:lpstr>Summary Of Key Finding</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Srihari Deshpande</dc:creator>
  <cp:lastModifiedBy>KODURU SANDEEP SANDEEP</cp:lastModifiedBy>
  <cp:revision>16</cp:revision>
  <dcterms:created xsi:type="dcterms:W3CDTF">2026-02-27T15:54:42Z</dcterms:created>
  <dcterms:modified xsi:type="dcterms:W3CDTF">2026-03-27T12:36:50Z</dcterms:modified>
</cp:coreProperties>
</file>